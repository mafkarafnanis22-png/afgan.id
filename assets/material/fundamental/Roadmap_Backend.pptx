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500" b="1">
                <a:solidFill>
                  <a:srgbClr val="06B6D4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500" b="1">
                <a:solidFill>
                  <a:srgbClr val="F8FAFC"/>
                </a:solidFill>
                <a:latin typeface="Aptos"/>
              </a:defRPr>
            </a:pPr>
            <a:r>
              <a:t>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88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0">
                <a:solidFill>
                  <a:srgbClr val="94A3B8"/>
                </a:solidFill>
                <a:latin typeface="Aptos"/>
              </a:defRPr>
            </a:pPr>
            <a:r>
              <a:t>Roadmap + Coding Practice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749039"/>
            <a:ext cx="3246120" cy="1143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3749039"/>
            <a:ext cx="64008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931920"/>
            <a:ext cx="2834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6 Tahap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370831"/>
            <a:ext cx="283463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Aptos"/>
              </a:defRPr>
            </a:pPr>
            <a:r>
              <a:t>Fundamental → Advanced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3749039"/>
            <a:ext cx="3246120" cy="1143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3749039"/>
            <a:ext cx="64008" cy="1143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3931920"/>
            <a:ext cx="2834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± 10 Minggu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4370831"/>
            <a:ext cx="283463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Aptos"/>
              </a:defRPr>
            </a:pPr>
            <a:r>
              <a:t>Belajar bertahap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3749039"/>
            <a:ext cx="3246120" cy="1143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0" y="3749039"/>
            <a:ext cx="64008" cy="1143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3931920"/>
            <a:ext cx="2834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4370831"/>
            <a:ext cx="283463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Aptos"/>
              </a:defRPr>
            </a:pPr>
            <a:r>
              <a:t>Belajar sambil membuat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Aptos"/>
              </a:defRPr>
            </a:pPr>
            <a:r>
              <a:t>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8FAFC"/>
                </a:solidFill>
                <a:latin typeface="Aptos"/>
              </a:defRPr>
            </a:pPr>
            <a:r>
              <a:t>Cara Memakai Materi 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43584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Aptos"/>
              </a:defRPr>
            </a:pPr>
            <a:r>
              <a:t>Jangan cuma membaca. Ketik ulang codingannya dan ubah contoh-contohnya.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20240"/>
            <a:ext cx="2514600" cy="21488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920240"/>
            <a:ext cx="64008" cy="2148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01 — Pahami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42032"/>
            <a:ext cx="210312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Aptos"/>
              </a:defRPr>
            </a:pPr>
            <a:r>
              <a:t>Baca konsep dan analoginya.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920240"/>
            <a:ext cx="2514600" cy="21488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920240"/>
            <a:ext cx="64008" cy="21488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21031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02 — Ketik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542032"/>
            <a:ext cx="210312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Aptos"/>
              </a:defRPr>
            </a:pPr>
            <a:r>
              <a:t>Tulis sendiri kode contoh.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920240"/>
            <a:ext cx="2514600" cy="21488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920240"/>
            <a:ext cx="64008" cy="21488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1031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03 — Ubah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542032"/>
            <a:ext cx="210312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Aptos"/>
              </a:defRPr>
            </a:pPr>
            <a:r>
              <a:t>Ganti data, kondisi, atau fitur.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59" y="1920240"/>
            <a:ext cx="2514600" cy="21488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52559" y="1920240"/>
            <a:ext cx="64008" cy="21488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59" y="21031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04 — Project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59" y="2542032"/>
            <a:ext cx="210312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Aptos"/>
              </a:defRPr>
            </a:pPr>
            <a:r>
              <a:t>Gabungkan materi menjadi aplikasi.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84632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  <a:latin typeface="Aptos"/>
              </a:defRPr>
            </a:pPr>
            <a:r>
              <a:t>Target: bukan hafal syntax, tetapi paham kenapa kode tersebut digunakan.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Aptos"/>
              </a:defRPr>
            </a:pPr>
            <a:r>
              <a:t>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8FAFC"/>
                </a:solidFill>
                <a:latin typeface="Aptos"/>
              </a:defRPr>
            </a:pPr>
            <a:r>
              <a:t>1. Fundamental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43584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Aptos"/>
              </a:defRPr>
            </a:pPr>
            <a:r>
              <a:t>Dasar logika sebelum masuk backend.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347472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37360"/>
            <a:ext cx="64008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3063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Variabel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59152"/>
            <a:ext cx="3063239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Aptos"/>
              </a:defRPr>
            </a:pPr>
            <a:r>
              <a:t>Tempat menyimpan nilai.</a:t>
            </a:r>
            <a:br/>
            <a:r>
              <a:t>Contoh: nama, umur, harga.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737360"/>
            <a:ext cx="347472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61688" y="1737360"/>
            <a:ext cx="64008" cy="1828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920240"/>
            <a:ext cx="3063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Kontrol Alur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359152"/>
            <a:ext cx="3063239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Aptos"/>
              </a:defRPr>
            </a:pPr>
            <a:r>
              <a:t>if/else untuk keputusan.</a:t>
            </a:r>
            <a:br/>
            <a:r>
              <a:t>loop untuk pengulangan.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7575" y="1737360"/>
            <a:ext cx="347472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37575" y="1737360"/>
            <a:ext cx="64008" cy="1828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5" y="1920240"/>
            <a:ext cx="3063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Function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5" y="2359152"/>
            <a:ext cx="3063239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Aptos"/>
              </a:defRPr>
            </a:pPr>
            <a:r>
              <a:t>Kode yang bisa dipakai ulang.</a:t>
            </a:r>
            <a:br/>
            <a:r>
              <a:t>Membuat program lebih rapi.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977639"/>
            <a:ext cx="6400800" cy="2057400"/>
          </a:xfrm>
          <a:prstGeom prst="round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" y="4087368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B6D4"/>
                </a:solidFill>
                <a:latin typeface="Aptos"/>
              </a:defRPr>
            </a:pPr>
            <a:r>
              <a:t>PHP — CONTOH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4416552"/>
            <a:ext cx="6016752" cy="1527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&lt;?php</a:t>
            </a:r>
            <a:br/>
            <a:r>
              <a:t>$nama = "Afgan";</a:t>
            </a:r>
            <a:br/>
            <a:r>
              <a:t>$umur = 17;</a:t>
            </a:r>
            <a:br/>
            <a:br/>
            <a:r>
              <a:t>if ($umur &gt;= 17) {</a:t>
            </a:r>
            <a:br/>
            <a:r>
              <a:t>    echo "Halo, $nama!";</a:t>
            </a:r>
            <a:br/>
            <a:r>
              <a:t>} else {</a:t>
            </a:r>
            <a:br/>
            <a:r>
              <a:t>    echo "Belum cukup umur";</a:t>
            </a:r>
            <a:br/>
            <a:r>
              <a:t>}</a:t>
            </a:r>
            <a:br/>
            <a:br/>
            <a:r>
              <a:t>function tambah($a, $b) {</a:t>
            </a:r>
            <a:br/>
            <a:r>
              <a:t>    return $a + $b;</a:t>
            </a:r>
            <a:br/>
            <a:r>
              <a:t>}</a:t>
            </a:r>
            <a:br/>
            <a:br/>
            <a:r>
              <a:t>echo tambah(10, 5);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0" y="3977639"/>
            <a:ext cx="406908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06640" y="3977639"/>
            <a:ext cx="64008" cy="20574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5240" y="4160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Yang perlu dipahami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4599431"/>
            <a:ext cx="3657600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Aptos"/>
              </a:defRPr>
            </a:pPr>
            <a:r>
              <a:t>• Apa itu variable?</a:t>
            </a:r>
            <a:br/>
            <a:r>
              <a:t>• Kapan memakai if/else?</a:t>
            </a:r>
            <a:br/>
            <a:r>
              <a:t>• Kenapa function berguna?</a:t>
            </a:r>
            <a:br/>
            <a:r>
              <a:t>• Bagaimana menangani error?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Aptos"/>
              </a:defRPr>
            </a:pPr>
            <a:r>
              <a:t>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8FAFC"/>
                </a:solidFill>
                <a:latin typeface="Aptos"/>
              </a:defRPr>
            </a:pPr>
            <a:r>
              <a:t>Error Handling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43584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Aptos"/>
              </a:defRPr>
            </a:pPr>
            <a:r>
              <a:t>Program tidak selalu berjalan mulus. Kita perlu menangani kesalahan.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577840" cy="3108960"/>
          </a:xfrm>
          <a:prstGeom prst="round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38528"/>
            <a:ext cx="52120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B6D4"/>
                </a:solidFill>
                <a:latin typeface="Aptos"/>
              </a:defRPr>
            </a:pPr>
            <a:r>
              <a:t>PHP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267712"/>
            <a:ext cx="5193792" cy="2578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&lt;?php</a:t>
            </a:r>
            <a:br/>
            <a:r>
              <a:t>try {</a:t>
            </a:r>
            <a:br/>
            <a:r>
              <a:t>    $hasil = 10 / 0;</a:t>
            </a:r>
            <a:br/>
            <a:r>
              <a:t>    echo $hasil;</a:t>
            </a:r>
            <a:br/>
            <a:r>
              <a:t>} catch (Throwable $e) {</a:t>
            </a:r>
            <a:br/>
            <a:r>
              <a:t>    echo "Terjadi error!";</a:t>
            </a:r>
            <a:br/>
            <a: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1828800"/>
            <a:ext cx="4800600" cy="3108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29400" y="1828800"/>
            <a:ext cx="64008" cy="31089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20116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Bayangkan begini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450592"/>
            <a:ext cx="4389120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  <a:latin typeface="Aptos"/>
              </a:defRPr>
            </a:pPr>
            <a:r>
              <a:t>try = coba menjalankan kode</a:t>
            </a:r>
            <a:br/>
            <a:br/>
            <a:r>
              <a:t>catch = kalau terjadi error, tangani di sini</a:t>
            </a:r>
            <a:br/>
            <a:br/>
            <a:r>
              <a:t>Tujuannya agar aplikasi memberikan respons yang jelas, bukan langsung berantakan.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Aptos"/>
              </a:defRPr>
            </a:pPr>
            <a:r>
              <a:t>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8FAFC"/>
                </a:solidFill>
                <a:latin typeface="Aptos"/>
              </a:defRPr>
            </a:pPr>
            <a:r>
              <a:t>2.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43584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Aptos"/>
              </a:defRPr>
            </a:pPr>
            <a:r>
              <a:t>Tempat backend menyimpan data aplikasi.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3474720" cy="1965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64008" cy="1965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20"/>
            <a:ext cx="3063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CRUD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13432"/>
            <a:ext cx="3063239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Aptos"/>
              </a:defRPr>
            </a:pPr>
            <a:r>
              <a:t>Create → INSERT</a:t>
            </a:r>
            <a:br/>
            <a:r>
              <a:t>Read → SELECT</a:t>
            </a:r>
            <a:br/>
            <a:r>
              <a:t>Update → UPDATE</a:t>
            </a:r>
            <a:br/>
            <a:r>
              <a:t>Delete → DELETE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691640"/>
            <a:ext cx="3474720" cy="1965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61688" y="1691640"/>
            <a:ext cx="64008" cy="1965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874520"/>
            <a:ext cx="3063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Relasi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313432"/>
            <a:ext cx="3063239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Aptos"/>
              </a:defRPr>
            </a:pPr>
            <a:r>
              <a:t>Contoh: satu kelas punya banyak siswa.</a:t>
            </a:r>
            <a:br/>
            <a:r>
              <a:t>Gunakan foreign key.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7575" y="1691640"/>
            <a:ext cx="3474720" cy="1965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37575" y="1691640"/>
            <a:ext cx="64008" cy="19659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5" y="1874520"/>
            <a:ext cx="3063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Index &amp; Normalisasi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5" y="2313432"/>
            <a:ext cx="3063239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Aptos"/>
              </a:defRPr>
            </a:pPr>
            <a:r>
              <a:t>Index mempercepat pencarian.</a:t>
            </a:r>
            <a:br/>
            <a:r>
              <a:t>Normalisasi merapikan data.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977639"/>
            <a:ext cx="5760720" cy="1874519"/>
          </a:xfrm>
          <a:prstGeom prst="round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" y="4087368"/>
            <a:ext cx="53949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B6D4"/>
                </a:solidFill>
                <a:latin typeface="Aptos"/>
              </a:defRPr>
            </a:pPr>
            <a:r>
              <a:t>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4416552"/>
            <a:ext cx="5376672" cy="1344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CREATE DATABASE sekolah;</a:t>
            </a:r>
            <a:br/>
            <a:r>
              <a:t>USE sekolah;</a:t>
            </a:r>
            <a:br/>
            <a:br/>
            <a:r>
              <a:t>CREATE TABLE siswa (</a:t>
            </a:r>
            <a:br/>
            <a:r>
              <a:t>  id INT AUTO_INCREMENT PRIMARY KEY,</a:t>
            </a:r>
            <a:br/>
            <a:r>
              <a:t>  nama VARCHAR(100),</a:t>
            </a:r>
            <a:br/>
            <a:r>
              <a:t>  kelas VARCHAR(20)</a:t>
            </a:r>
            <a:br/>
            <a:r>
              <a:t>);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12280" y="3977639"/>
            <a:ext cx="4617720" cy="1874519"/>
          </a:xfrm>
          <a:prstGeom prst="round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13448" y="4087368"/>
            <a:ext cx="42519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B6D4"/>
                </a:solidFill>
                <a:latin typeface="Aptos"/>
              </a:defRPr>
            </a:pPr>
            <a:r>
              <a:t>CRUD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3448" y="4416552"/>
            <a:ext cx="4233672" cy="1344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INSERT INTO siswa (nama, kelas)</a:t>
            </a:r>
            <a:br/>
            <a:r>
              <a:t>VALUES ('Afgan', 'XI RPL');</a:t>
            </a:r>
            <a:br/>
            <a:br/>
            <a:r>
              <a:t>SELECT * FROM siswa;</a:t>
            </a:r>
            <a:br/>
            <a:br/>
            <a:r>
              <a:t>UPDATE siswa</a:t>
            </a:r>
            <a:br/>
            <a:r>
              <a:t>SET kelas = 'XII RPL'</a:t>
            </a:r>
            <a:br/>
            <a:r>
              <a:t>WHERE id = 1;</a:t>
            </a:r>
            <a:br/>
            <a:br/>
            <a:r>
              <a:t>DELETE FROM siswa</a:t>
            </a:r>
            <a:br/>
            <a:r>
              <a:t>WHERE id = 1;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Aptos"/>
              </a:defRPr>
            </a:pPr>
            <a:r>
              <a:t>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8FAFC"/>
                </a:solidFill>
                <a:latin typeface="Aptos"/>
              </a:defRPr>
            </a:pPr>
            <a:r>
              <a:t>Database: Relasi Tabel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43584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Aptos"/>
              </a:defRPr>
            </a:pPr>
            <a:r>
              <a:t>Daripada mengulang data, kita hubungkan tabel.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749039" cy="1920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64008" cy="1920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33375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Tabel kelas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59152"/>
            <a:ext cx="3337559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Aptos"/>
              </a:defRPr>
            </a:pPr>
            <a:r>
              <a:t>id</a:t>
            </a:r>
            <a:br/>
            <a:r>
              <a:t>nama_kelas</a:t>
            </a:r>
            <a:br/>
            <a:r>
              <a:t>wali_kelas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3317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06B6D4"/>
                </a:solidFill>
                <a:latin typeface="Aptos"/>
              </a:defRPr>
            </a:pPr>
            <a:r>
              <a:t>1  ─────────  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1737360"/>
            <a:ext cx="3749039" cy="1920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35240" y="1737360"/>
            <a:ext cx="64008" cy="19202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920240"/>
            <a:ext cx="33375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Tabel siswa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359152"/>
            <a:ext cx="3337559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Aptos"/>
              </a:defRPr>
            </a:pPr>
            <a:r>
              <a:t>id</a:t>
            </a:r>
            <a:br/>
            <a:r>
              <a:t>nama</a:t>
            </a:r>
            <a:br/>
            <a:r>
              <a:t>kelas_id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23360"/>
            <a:ext cx="5669280" cy="1783080"/>
          </a:xfrm>
          <a:prstGeom prst="round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4133088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B6D4"/>
                </a:solidFill>
                <a:latin typeface="Aptos"/>
              </a:defRPr>
            </a:pPr>
            <a:r>
              <a:t>FOREIGN KEY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4462272"/>
            <a:ext cx="5285232" cy="1252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CREATE TABLE siswa (</a:t>
            </a:r>
            <a:br/>
            <a:r>
              <a:t>  id INT AUTO_INCREMENT PRIMARY KEY,</a:t>
            </a:r>
            <a:br/>
            <a:r>
              <a:t>  nama VARCHAR(100),</a:t>
            </a:r>
            <a:br/>
            <a:r>
              <a:t>  kelas_id INT,</a:t>
            </a:r>
            <a:br/>
            <a:r>
              <a:t>  FOREIGN KEY (kelas_id)</a:t>
            </a:r>
            <a:br/>
            <a:r>
              <a:t>    REFERENCES kelas(id)</a:t>
            </a:r>
            <a:br/>
            <a:r>
              <a:t>);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20840" y="4023360"/>
            <a:ext cx="4663440" cy="1783080"/>
          </a:xfrm>
          <a:prstGeom prst="round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22007" y="4133088"/>
            <a:ext cx="42976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B6D4"/>
                </a:solidFill>
                <a:latin typeface="Aptos"/>
              </a:defRPr>
            </a:pPr>
            <a:r>
              <a:t>JOIN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22007" y="4462272"/>
            <a:ext cx="4279392" cy="1252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SELECT siswa.nama,</a:t>
            </a:r>
            <a:br/>
            <a:r>
              <a:t>       kelas.nama_kelas</a:t>
            </a:r>
            <a:br/>
            <a:r>
              <a:t>FROM siswa</a:t>
            </a:r>
            <a:br/>
            <a:r>
              <a:t>JOIN kelas</a:t>
            </a:r>
            <a:br/>
            <a:r>
              <a:t>  ON siswa.kelas_id = kelas.id;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Aptos"/>
              </a:defRPr>
            </a:pPr>
            <a:r>
              <a:t>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8FAFC"/>
                </a:solidFill>
                <a:latin typeface="Aptos"/>
              </a:defRPr>
            </a:pPr>
            <a:r>
              <a:t>Indexing &amp; Normalization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43584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Aptos"/>
              </a:defRPr>
            </a:pPr>
            <a:r>
              <a:t>Dua konsep penting saat merancang database.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30352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64008" cy="1828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INDEXING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67712"/>
            <a:ext cx="489204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  <a:latin typeface="Aptos"/>
              </a:defRPr>
            </a:pPr>
            <a:r>
              <a:t>Seperti daftar isi buku.</a:t>
            </a:r>
            <a:br/>
            <a:r>
              <a:t>Membantu database menemukan data lebih cepat.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03320"/>
            <a:ext cx="5303520" cy="1417320"/>
          </a:xfrm>
          <a:prstGeom prst="round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813048"/>
            <a:ext cx="49377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B6D4"/>
                </a:solidFill>
                <a:latin typeface="Aptos"/>
              </a:defRPr>
            </a:pPr>
            <a:r>
              <a:t>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142231"/>
            <a:ext cx="49194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CREATE INDEX idx_nama</a:t>
            </a:r>
            <a:br/>
            <a:r>
              <a:t>ON siswa(nama);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645920"/>
            <a:ext cx="530352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645920"/>
            <a:ext cx="64008" cy="1828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NORMALIZATION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267712"/>
            <a:ext cx="489204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  <a:latin typeface="Aptos"/>
              </a:defRPr>
            </a:pPr>
            <a:r>
              <a:t>Pisahkan data yang berbeda tanggung jawab.</a:t>
            </a:r>
            <a:br/>
            <a:r>
              <a:t>Contoh: data kelas tidak perlu diulang di setiap siswa.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703320"/>
            <a:ext cx="5303520" cy="1417320"/>
          </a:xfrm>
          <a:prstGeom prst="round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3813048"/>
            <a:ext cx="49377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B6D4"/>
                </a:solidFill>
                <a:latin typeface="Aptos"/>
              </a:defRPr>
            </a:pPr>
            <a:r>
              <a:t>CONTOH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4142231"/>
            <a:ext cx="49194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kelas: id | nama_kelas</a:t>
            </a:r>
            <a:br/>
            <a:r>
              <a:t>siswa: id | nama | kelas_id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6235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8FAFC"/>
                </a:solidFill>
                <a:latin typeface="Aptos"/>
              </a:defRPr>
            </a:pPr>
            <a:r>
              <a:t>Prinsip: database rapi → data lebih konsisten → aplikasi lebih mudah dikembangkan.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Aptos"/>
              </a:defRPr>
            </a:pPr>
            <a:r>
              <a:t>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8FAFC"/>
                </a:solidFill>
                <a:latin typeface="Aptos"/>
              </a:defRPr>
            </a:pPr>
            <a:r>
              <a:t>3. REST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43584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Aptos"/>
              </a:defRPr>
            </a:pPr>
            <a:r>
              <a:t>API adalah 'pintu' komunikasi antara frontend dan backend.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6032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64008" cy="2011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2148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67712"/>
            <a:ext cx="2148839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Aptos"/>
              </a:defRPr>
            </a:pPr>
            <a:r>
              <a:t>Mengambil data</a:t>
            </a:r>
            <a:br/>
            <a:r>
              <a:t>GET /api/siswa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645920"/>
            <a:ext cx="256032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645920"/>
            <a:ext cx="64008" cy="20116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1828800"/>
            <a:ext cx="2148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POST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267712"/>
            <a:ext cx="2148839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Aptos"/>
              </a:defRPr>
            </a:pPr>
            <a:r>
              <a:t>Membuat data</a:t>
            </a:r>
            <a:br/>
            <a:r>
              <a:t>POST /api/siswa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645920"/>
            <a:ext cx="256032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645920"/>
            <a:ext cx="64008" cy="20116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828800"/>
            <a:ext cx="2148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267712"/>
            <a:ext cx="2148839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Aptos"/>
              </a:defRPr>
            </a:pPr>
            <a:r>
              <a:t>Mengubah data</a:t>
            </a:r>
            <a:br/>
            <a:r>
              <a:t>PUT /api/siswa/1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645920"/>
            <a:ext cx="256032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61120" y="1645920"/>
            <a:ext cx="64008" cy="20116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1828800"/>
            <a:ext cx="2148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DELETE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2267712"/>
            <a:ext cx="2148839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Aptos"/>
              </a:defRPr>
            </a:pPr>
            <a:r>
              <a:t>Menghapus data</a:t>
            </a:r>
            <a:br/>
            <a:r>
              <a:t>DELETE /api/siswa/1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069080"/>
            <a:ext cx="5394960" cy="1828800"/>
          </a:xfrm>
          <a:prstGeom prst="round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" y="417880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B6D4"/>
                </a:solidFill>
                <a:latin typeface="Aptos"/>
              </a:defRPr>
            </a:pPr>
            <a:r>
              <a:t>JSON RESPONSE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" y="4507992"/>
            <a:ext cx="5010912" cy="1298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GET /api/siswa/1</a:t>
            </a:r>
            <a:br/>
            <a:br/>
            <a:r>
              <a:t>Response:</a:t>
            </a:r>
            <a:br/>
            <a:r>
              <a:t>{</a:t>
            </a:r>
            <a:br/>
            <a:r>
              <a:t>  "id": 1,</a:t>
            </a:r>
            <a:br/>
            <a:r>
              <a:t>  "nama": "Afgan",</a:t>
            </a:r>
            <a:br/>
            <a:r>
              <a:t>  "kelas": "XI RPL"</a:t>
            </a:r>
            <a:br/>
            <a:r>
              <a:t>}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46520" y="4069080"/>
            <a:ext cx="498348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46520" y="4069080"/>
            <a:ext cx="64008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4251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Status Code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690872"/>
            <a:ext cx="45720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Aptos"/>
              </a:defRPr>
            </a:pPr>
            <a:r>
              <a:t>200 = berhasil</a:t>
            </a:r>
            <a:br/>
            <a:r>
              <a:t>201 = berhasil membuat data</a:t>
            </a:r>
            <a:br/>
            <a:r>
              <a:t>404 = data tidak ditemukan</a:t>
            </a:r>
            <a:br/>
            <a:r>
              <a:t>500 = server error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Aptos"/>
              </a:defRPr>
            </a:pPr>
            <a:r>
              <a:t>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8FAFC"/>
                </a:solidFill>
                <a:latin typeface="Aptos"/>
              </a:defRPr>
            </a:pPr>
            <a:r>
              <a:t>4. Autentikasi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43584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Aptos"/>
              </a:defRPr>
            </a:pPr>
            <a:r>
              <a:t>Memastikan siapa yang sedang mengakses API.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6B6D4"/>
                </a:solidFill>
                <a:latin typeface="Aptos"/>
              </a:defRPr>
            </a:pPr>
            <a:r>
              <a:t>REGISTER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7373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94A3B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737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6B6D4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17373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94A3B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1737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2C55E"/>
                </a:solidFill>
                <a:latin typeface="Aptos"/>
              </a:defRPr>
            </a:pPr>
            <a:r>
              <a:t>TOKEN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17373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94A3B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737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2C55E"/>
                </a:solidFill>
                <a:latin typeface="Aptos"/>
              </a:defRPr>
            </a:pPr>
            <a:r>
              <a:t>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743200"/>
            <a:ext cx="6492240" cy="2743200"/>
          </a:xfrm>
          <a:prstGeom prst="round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2852928"/>
            <a:ext cx="61264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B6D4"/>
                </a:solidFill>
                <a:latin typeface="Aptos"/>
              </a:defRPr>
            </a:pPr>
            <a:r>
              <a:t>ALUR LOGIN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" y="3182112"/>
            <a:ext cx="6108192" cy="22128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POST /api/login</a:t>
            </a:r>
            <a:br/>
            <a:br/>
            <a:r>
              <a:t>{</a:t>
            </a:r>
            <a:br/>
            <a:r>
              <a:t>  "email": "user@mail.com",</a:t>
            </a:r>
            <a:br/>
            <a:r>
              <a:t>  "password": "rahasia"</a:t>
            </a:r>
            <a:br/>
            <a:r>
              <a:t>}</a:t>
            </a:r>
            <a:br/>
            <a:br/>
            <a:r>
              <a:t>→ Server memeriksa akun</a:t>
            </a:r>
            <a:br/>
            <a:r>
              <a:t>→ Jika benar, server memberi token</a:t>
            </a:r>
            <a:br/>
            <a:r>
              <a:t>→ Token dipakai saat akses endpoint yang dilindungi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2743200"/>
            <a:ext cx="3886200" cy="27432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43800" y="2743200"/>
            <a:ext cx="64008" cy="2743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29260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Middleware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364992"/>
            <a:ext cx="3474720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  <a:latin typeface="Aptos"/>
              </a:defRPr>
            </a:pPr>
            <a:r>
              <a:t>Middleware bisa menjadi 'satpam'.</a:t>
            </a:r>
            <a:br/>
            <a:br/>
            <a:r>
              <a:t>Request masuk → token dicek → kalau valid, lanjut → kalau tidak, ditolak.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Aptos"/>
              </a:defRPr>
            </a:pPr>
            <a:r>
              <a:t>WEEK 5–6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8FAFC"/>
                </a:solidFill>
                <a:latin typeface="Aptos"/>
              </a:defRPr>
            </a:pPr>
            <a:r>
              <a:t>5. OOP &amp; Backend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43584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Aptos"/>
              </a:defRPr>
            </a:pPr>
            <a:r>
              <a:t>Membuat kode lebih terstruktur dan mudah dikembangkan.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260604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45920"/>
            <a:ext cx="64008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Class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67712"/>
            <a:ext cx="219456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Aptos"/>
              </a:defRPr>
            </a:pPr>
            <a:r>
              <a:t>Cetakan/blueprint untuk object.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645920"/>
            <a:ext cx="260604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645920"/>
            <a:ext cx="64008" cy="1828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18288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Inheritance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267712"/>
            <a:ext cx="219456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Aptos"/>
              </a:defRPr>
            </a:pPr>
            <a:r>
              <a:t>Class dapat mewarisi perilaku class lain.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645920"/>
            <a:ext cx="260604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645920"/>
            <a:ext cx="64008" cy="1828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8288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Polymorphism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267712"/>
            <a:ext cx="219456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Aptos"/>
              </a:defRPr>
            </a:pPr>
            <a:r>
              <a:t>Interface sama, perilaku bisa berbeda.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1645920"/>
            <a:ext cx="233172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52560" y="1645920"/>
            <a:ext cx="64008" cy="18288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182880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MVC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2267712"/>
            <a:ext cx="1920239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Aptos"/>
              </a:defRPr>
            </a:pPr>
            <a:r>
              <a:t>Pisahkan tanggung jawab kode.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886200"/>
            <a:ext cx="5943600" cy="1965960"/>
          </a:xfrm>
          <a:prstGeom prst="round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" y="3995928"/>
            <a:ext cx="5577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B6D4"/>
                </a:solidFill>
                <a:latin typeface="Aptos"/>
              </a:defRPr>
            </a:pPr>
            <a:r>
              <a:t>PHP 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" y="4325112"/>
            <a:ext cx="5559552" cy="1435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class Siswa {</a:t>
            </a:r>
            <a:br/>
            <a:r>
              <a:t>    public function __construct(</a:t>
            </a:r>
            <a:br/>
            <a:r>
              <a:t>        public string $nama</a:t>
            </a:r>
            <a:br/>
            <a:r>
              <a:t>    ) {}</a:t>
            </a:r>
            <a:br/>
            <a:br/>
            <a:r>
              <a:t>    public function sapa() {</a:t>
            </a:r>
            <a:br/>
            <a:r>
              <a:t>        return "Halo " . $this-&gt;nama;</a:t>
            </a:r>
            <a:br/>
            <a:r>
              <a:t>    }</a:t>
            </a:r>
            <a:br/>
            <a:r>
              <a:t>}</a:t>
            </a:r>
            <a:br/>
            <a:br/>
            <a:r>
              <a:t>$siswa = new Siswa("Afgan");</a:t>
            </a:r>
            <a:br/>
            <a:r>
              <a:t>echo $siswa-&gt;sapa();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95160" y="3886200"/>
            <a:ext cx="4434840" cy="1965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95160" y="3886200"/>
            <a:ext cx="64008" cy="19659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0" y="4069080"/>
            <a:ext cx="40233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Layer sederhana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4507992"/>
            <a:ext cx="4023359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Aptos"/>
              </a:defRPr>
            </a:pPr>
            <a:r>
              <a:t>Controller → menerima request</a:t>
            </a:r>
            <a:br/>
            <a:r>
              <a:t>Service → logika bisnis</a:t>
            </a:r>
            <a:br/>
            <a:r>
              <a:t>Repository → akses database</a:t>
            </a:r>
            <a:br/>
            <a:br/>
            <a:r>
              <a:t>Tujuan: satu file tidak menangani semuanya.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Aptos"/>
              </a:defRPr>
            </a:pPr>
            <a:r>
              <a:t>WEEK 7–10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8FAFC"/>
                </a:solidFill>
                <a:latin typeface="Aptos"/>
              </a:defRPr>
            </a:pPr>
            <a:r>
              <a:t>6. Advanced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43584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Aptos"/>
              </a:defRPr>
            </a:pPr>
            <a:r>
              <a:t>Mulai memikirkan performa, otomatisasi, dan pekerjaan besar.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256032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00200"/>
            <a:ext cx="64008" cy="2011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2148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Batch 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21992"/>
            <a:ext cx="2148839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Aptos"/>
              </a:defRPr>
            </a:pPr>
            <a:r>
              <a:t>Proses data dalam jumlah besar secara bertahap.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600200"/>
            <a:ext cx="256032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600200"/>
            <a:ext cx="64008" cy="20116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783080"/>
            <a:ext cx="2148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Scheduler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221992"/>
            <a:ext cx="2148839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Aptos"/>
              </a:defRPr>
            </a:pPr>
            <a:r>
              <a:t>Jalankan tugas otomatis pada waktu tertentu.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600200"/>
            <a:ext cx="256032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600200"/>
            <a:ext cx="64008" cy="20116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783080"/>
            <a:ext cx="2148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Queue / MQ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221992"/>
            <a:ext cx="2148839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Aptos"/>
              </a:defRPr>
            </a:pPr>
            <a:r>
              <a:t>Pekerjaan diantrikan agar worker memprosesnya.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1600200"/>
            <a:ext cx="256032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15400" y="1600200"/>
            <a:ext cx="64008" cy="20116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1783080"/>
            <a:ext cx="2148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Caching / Redis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221992"/>
            <a:ext cx="2148839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Aptos"/>
              </a:defRPr>
            </a:pPr>
            <a:r>
              <a:t>Simpan data yang sering dipakai agar akses lebih cepat.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931920"/>
            <a:ext cx="6400800" cy="1965960"/>
          </a:xfrm>
          <a:prstGeom prst="round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" y="4041648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B6D4"/>
                </a:solidFill>
                <a:latin typeface="Aptos"/>
              </a:defRPr>
            </a:pPr>
            <a:r>
              <a:t>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" y="4370831"/>
            <a:ext cx="6016752" cy="1435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// Konsep scheduler</a:t>
            </a:r>
            <a:br/>
            <a:r>
              <a:t>Setiap hari 00:00</a:t>
            </a:r>
            <a:br/>
            <a:r>
              <a:t>      ↓</a:t>
            </a:r>
            <a:br/>
            <a:r>
              <a:t>Ambil data yang perlu diproses</a:t>
            </a:r>
            <a:br/>
            <a:r>
              <a:t>      ↓</a:t>
            </a:r>
            <a:br/>
            <a:r>
              <a:t>Masukkan job ke queue</a:t>
            </a:r>
            <a:br/>
            <a:r>
              <a:t>      ↓</a:t>
            </a:r>
            <a:br/>
            <a:r>
              <a:t>Worker memproses job</a:t>
            </a:r>
            <a:br/>
            <a:r>
              <a:t>      ↓</a:t>
            </a:r>
            <a:br/>
            <a:r>
              <a:t>Hasil disimpan ke database</a:t>
            </a:r>
            <a:br/>
            <a:r>
              <a:t>      ↓</a:t>
            </a:r>
            <a:br/>
            <a:r>
              <a:t>Cache diperbarui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06640" y="3931920"/>
            <a:ext cx="4023360" cy="1965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06640" y="3931920"/>
            <a:ext cx="64008" cy="1965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35240" y="4114800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Monitoring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4553712"/>
            <a:ext cx="3611880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Aptos"/>
              </a:defRPr>
            </a:pPr>
            <a:r>
              <a:t>Pantau error, waktu respons, queue, dan penggunaan resource.</a:t>
            </a:r>
            <a:br/>
            <a:br/>
            <a:r>
              <a:t>Tujuannya: tahu kapan sistem bermasalah.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Aptos"/>
              </a:defRPr>
            </a:pPr>
            <a:r>
              <a:t>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8FAFC"/>
                </a:solidFill>
                <a:latin typeface="Aptos"/>
              </a:defRPr>
            </a:pPr>
            <a:r>
              <a:t>Project Akhir: API Sistem Siswa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43584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Aptos"/>
              </a:defRPr>
            </a:pPr>
            <a:r>
              <a:t>Semua materi digabung menjadi satu aplikasi.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3383280" cy="1508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54480"/>
            <a:ext cx="64008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76272"/>
            <a:ext cx="297180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Aptos"/>
              </a:defRPr>
            </a:pPr>
            <a:r>
              <a:t>users</a:t>
            </a:r>
            <a:br/>
            <a:r>
              <a:t>kelas</a:t>
            </a:r>
            <a:br/>
            <a:r>
              <a:t>siswa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54480"/>
            <a:ext cx="3383280" cy="1508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554480"/>
            <a:ext cx="64008" cy="1508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73736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176272"/>
            <a:ext cx="297180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Aptos"/>
              </a:defRPr>
            </a:pPr>
            <a:r>
              <a:t>CRUD siswa</a:t>
            </a:r>
            <a:br/>
            <a:r>
              <a:t>CRUD kelas</a:t>
            </a:r>
            <a:br/>
            <a:r>
              <a:t>login/register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554480"/>
            <a:ext cx="3383280" cy="1508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554480"/>
            <a:ext cx="64008" cy="15087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73736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176272"/>
            <a:ext cx="297180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Aptos"/>
              </a:defRPr>
            </a:pPr>
            <a:r>
              <a:t>Authentication</a:t>
            </a:r>
            <a:br/>
            <a:r>
              <a:t>Middleware</a:t>
            </a:r>
            <a:br/>
            <a:r>
              <a:t>Validation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429000"/>
            <a:ext cx="3383280" cy="1508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429000"/>
            <a:ext cx="64008" cy="15087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61188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050791"/>
            <a:ext cx="297180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Aptos"/>
              </a:defRPr>
            </a:pPr>
            <a:r>
              <a:t>Controller</a:t>
            </a:r>
            <a:br/>
            <a:r>
              <a:t>Service</a:t>
            </a:r>
            <a:br/>
            <a:r>
              <a:t>Repository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429000"/>
            <a:ext cx="3383280" cy="1508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0" y="3429000"/>
            <a:ext cx="64008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361188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Performance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050791"/>
            <a:ext cx="297180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Aptos"/>
              </a:defRPr>
            </a:pPr>
            <a:r>
              <a:t>Index</a:t>
            </a:r>
            <a:br/>
            <a:r>
              <a:t>Cache</a:t>
            </a:r>
            <a:br/>
            <a:r>
              <a:t>Query optimization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429000"/>
            <a:ext cx="3383280" cy="1508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429000"/>
            <a:ext cx="64008" cy="1508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361188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Automation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050791"/>
            <a:ext cx="297180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Aptos"/>
              </a:defRPr>
            </a:pPr>
            <a:r>
              <a:t>Scheduler</a:t>
            </a:r>
            <a:br/>
            <a:r>
              <a:t>Queue</a:t>
            </a:r>
            <a:br/>
            <a:r>
              <a:t>Batch job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5321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  <a:latin typeface="Aptos"/>
              </a:defRPr>
            </a:pPr>
            <a:r>
              <a:t>Hasil akhir: bukan hanya tahu teori, tetapi punya project backend yang bisa dikembangkan.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Aptos"/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8FAFC"/>
                </a:solidFill>
                <a:latin typeface="Aptos"/>
              </a:defRPr>
            </a:pPr>
            <a:r>
              <a:t>Timeline ± 10 Minggu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43584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Aptos"/>
              </a:defRPr>
            </a:pPr>
            <a:r>
              <a:t>Belajar dari sederhana → semakin kompleks.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B6D4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6002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Fundamental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600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Aptos"/>
              </a:defRPr>
            </a:pPr>
            <a:r>
              <a:t>Program CLI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2039112"/>
            <a:ext cx="91440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1343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B6D4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31343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31343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Aptos"/>
              </a:defRPr>
            </a:pPr>
            <a:r>
              <a:t>Schema + CRUD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2752344"/>
            <a:ext cx="91440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02666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B6D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02666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REST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302666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Aptos"/>
              </a:defRPr>
            </a:pPr>
            <a:r>
              <a:t>API CRUD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3465576"/>
            <a:ext cx="91440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73989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B6D4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73989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Authentication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73989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Aptos"/>
              </a:defRPr>
            </a:pPr>
            <a:r>
              <a:t>Login/Register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4178808"/>
            <a:ext cx="91440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4531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B6D4"/>
                </a:solidFill>
                <a:latin typeface="Aptos"/>
              </a:defRPr>
            </a:pPr>
            <a:r>
              <a:t>5–6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4531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OOP + Architecture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45312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Aptos"/>
              </a:defRPr>
            </a:pPr>
            <a:r>
              <a:t>Service/Repo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0" y="4892040"/>
            <a:ext cx="91440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1663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B6D4"/>
                </a:solidFill>
                <a:latin typeface="Aptos"/>
              </a:defRPr>
            </a:pPr>
            <a:r>
              <a:t>7–10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1663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Advanced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51663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Aptos"/>
              </a:defRPr>
            </a:pPr>
            <a:r>
              <a:t>Queue/Cache/Scheduler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0" y="5605272"/>
            <a:ext cx="91440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6B6D4"/>
                </a:solidFill>
                <a:latin typeface="Aptos"/>
              </a:defRPr>
            </a:pPr>
            <a:r>
              <a:t>START SMALL.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8FAFC"/>
                </a:solidFill>
                <a:latin typeface="Aptos"/>
              </a:defRPr>
            </a:pPr>
            <a:r>
              <a:t>BUILD OFTEN.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06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22C55E"/>
                </a:solidFill>
                <a:latin typeface="Aptos"/>
              </a:defRPr>
            </a:pPr>
            <a:r>
              <a:t>UNDERSTAND DEEPLY.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86200"/>
            <a:ext cx="9875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Aptos"/>
              </a:defRPr>
            </a:pPr>
            <a:r>
              <a:t>Backend bukan tentang menghafal banyak syntax.</a:t>
            </a:r>
            <a:br/>
            <a:r>
              <a:t>Yang penting adalah memahami alur data, logika, dan cara sistem bekerja.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06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t>Roadmap Backend Development • ± 10 minggu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