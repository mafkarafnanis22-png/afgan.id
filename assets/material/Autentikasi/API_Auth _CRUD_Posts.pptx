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4" Type="http://schemas.openxmlformats.org/officeDocument/2006/relationships/slide" Target="slide5.xml"/><Relationship Id="rId7" Type="http://schemas.openxmlformats.org/officeDocument/2006/relationships/slide" Target="slide6.xml"/><Relationship Id="rId10" Type="http://schemas.openxmlformats.org/officeDocument/2006/relationships/slide" Target="slide14.xml"/><Relationship Id="rId13" Type="http://schemas.openxmlformats.org/officeDocument/2006/relationships/slide" Target="slide15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image" Target="../media/image-2-3.png"/><Relationship Id="rId6" Type="http://schemas.openxmlformats.org/officeDocument/2006/relationships/image" Target="../media/image-2-4.png"/><Relationship Id="rId8" Type="http://schemas.openxmlformats.org/officeDocument/2006/relationships/image" Target="../media/image-2-5.png"/><Relationship Id="rId9" Type="http://schemas.openxmlformats.org/officeDocument/2006/relationships/image" Target="../media/image-2-6.png"/><Relationship Id="rId11" Type="http://schemas.openxmlformats.org/officeDocument/2006/relationships/image" Target="../media/image-2-7.png"/><Relationship Id="rId12" Type="http://schemas.openxmlformats.org/officeDocument/2006/relationships/image" Target="../media/image-2-8.png"/><Relationship Id="rId14" Type="http://schemas.openxmlformats.org/officeDocument/2006/relationships/image" Target="../media/image-2-9.png"/><Relationship Id="rId15" Type="http://schemas.openxmlformats.org/officeDocument/2006/relationships/image" Target="../media/image-2-10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B1E49"/>
          </a:solidFill>
          <a:ln w="12700">
            <a:solidFill>
              <a:srgbClr val="1B1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B1E49"/>
          </a:solidFill>
          <a:ln w="12700">
            <a:solidFill>
              <a:srgbClr val="1B1E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86868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 w="12700">
            <a:solidFill>
              <a:srgbClr val="2E3B8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0789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8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REST API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Autentikasi &amp; CRUD Posts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lengkap istilah, endpoint, request &amp; response JSON — siap dipakai untuk belajar dan testing di Postman.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1011326" cy="384048"/>
          </a:xfrm>
          <a:prstGeom prst="roundRect">
            <a:avLst>
              <a:gd name="adj" fmla="val 50000"/>
            </a:avLst>
          </a:prstGeom>
          <a:solidFill>
            <a:srgbClr val="1C1F49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160520"/>
            <a:ext cx="10113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35454" y="4160520"/>
            <a:ext cx="1548994" cy="384048"/>
          </a:xfrm>
          <a:prstGeom prst="roundRect">
            <a:avLst>
              <a:gd name="adj" fmla="val 50000"/>
            </a:avLst>
          </a:prstGeom>
          <a:solidFill>
            <a:srgbClr val="1C1F49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35454" y="4160520"/>
            <a:ext cx="15489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Sanctum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85616" y="4160520"/>
            <a:ext cx="1011326" cy="384048"/>
          </a:xfrm>
          <a:prstGeom prst="roundRect">
            <a:avLst>
              <a:gd name="adj" fmla="val 50000"/>
            </a:avLst>
          </a:prstGeom>
          <a:solidFill>
            <a:srgbClr val="1C1F4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85616" y="4160520"/>
            <a:ext cx="10113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98110" y="4160520"/>
            <a:ext cx="832104" cy="384048"/>
          </a:xfrm>
          <a:prstGeom prst="roundRect">
            <a:avLst>
              <a:gd name="adj" fmla="val 50000"/>
            </a:avLst>
          </a:prstGeom>
          <a:solidFill>
            <a:srgbClr val="1C1F49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98110" y="416052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2A2D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6108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crud_api  •  Auth API Reference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052560" y="6108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Isi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15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salah satu bagian untuk langsung menuju ke slide-nya</a:t>
            </a:r>
            <a:endParaRPr lang="en-US" sz="1300" dirty="0"/>
          </a:p>
        </p:txBody>
      </p:sp>
      <p:sp>
        <p:nvSpPr>
          <p:cNvPr id="4" name="Shape 2">
            <a:hlinkClick r:id="rId1" tooltip="Ke: Istilah &amp; Konsep Dasar" action="ppaction://hlinksldjump"/>
          </p:cNvPr>
          <p:cNvSpPr/>
          <p:nvPr/>
        </p:nvSpPr>
        <p:spPr>
          <a:xfrm>
            <a:off x="822960" y="1691640"/>
            <a:ext cx="10515600" cy="768096"/>
          </a:xfrm>
          <a:prstGeom prst="roundRect">
            <a:avLst>
              <a:gd name="adj" fmla="val 11905"/>
            </a:avLst>
          </a:prstGeom>
          <a:solidFill>
            <a:srgbClr val="1C1F49"/>
          </a:solidFill>
          <a:ln w="12700">
            <a:solidFill>
              <a:srgbClr val="2A2D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83794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95681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37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377440" y="1783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Istilah &amp; Konsep Dasar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77440" y="21122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Endpoint, hit, method, auth, token, dan istilah lainnya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956816"/>
            <a:ext cx="219456" cy="219456"/>
          </a:xfrm>
          <a:prstGeom prst="rect">
            <a:avLst/>
          </a:prstGeom>
        </p:spPr>
      </p:pic>
      <p:sp>
        <p:nvSpPr>
          <p:cNvPr id="11" name="Shape 7">
            <a:hlinkClick r:id="rId4" tooltip="Ke: Ringkasan Semua Endpoint" action="ppaction://hlinksldjump"/>
          </p:cNvPr>
          <p:cNvSpPr/>
          <p:nvPr/>
        </p:nvSpPr>
        <p:spPr>
          <a:xfrm>
            <a:off x="822960" y="2587752"/>
            <a:ext cx="10515600" cy="768096"/>
          </a:xfrm>
          <a:prstGeom prst="roundRect">
            <a:avLst>
              <a:gd name="adj" fmla="val 11905"/>
            </a:avLst>
          </a:prstGeom>
          <a:solidFill>
            <a:srgbClr val="1C1F49"/>
          </a:solidFill>
          <a:ln w="12700">
            <a:solidFill>
              <a:srgbClr val="2A2D5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51560" y="2734056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285292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26609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37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2377440" y="26791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Semua Endpoint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377440" y="300837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lengkap 9 endpoint auth &amp; posts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8520" y="2852928"/>
            <a:ext cx="219456" cy="219456"/>
          </a:xfrm>
          <a:prstGeom prst="rect">
            <a:avLst/>
          </a:prstGeom>
        </p:spPr>
      </p:pic>
      <p:sp>
        <p:nvSpPr>
          <p:cNvPr id="18" name="Shape 12">
            <a:hlinkClick r:id="rId7" tooltip="Ke: Detail Endpoint (Request &amp; Response)" action="ppaction://hlinksldjump"/>
          </p:cNvPr>
          <p:cNvSpPr/>
          <p:nvPr/>
        </p:nvSpPr>
        <p:spPr>
          <a:xfrm>
            <a:off x="822960" y="3483864"/>
            <a:ext cx="10515600" cy="768096"/>
          </a:xfrm>
          <a:prstGeom prst="roundRect">
            <a:avLst>
              <a:gd name="adj" fmla="val 11905"/>
            </a:avLst>
          </a:prstGeom>
          <a:solidFill>
            <a:srgbClr val="1C1F49"/>
          </a:solidFill>
          <a:ln w="12700">
            <a:solidFill>
              <a:srgbClr val="2A2D5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051560" y="363016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" y="374904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783080" y="3557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37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5"/>
          <p:cNvSpPr/>
          <p:nvPr/>
        </p:nvSpPr>
        <p:spPr>
          <a:xfrm>
            <a:off x="2377440" y="357530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Endpoint (Request &amp; Response)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2377440" y="39044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JSON tiap endpoint, siap uji di Postman</a:t>
            </a:r>
            <a:endParaRPr lang="en-US" sz="11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8520" y="3749040"/>
            <a:ext cx="219456" cy="219456"/>
          </a:xfrm>
          <a:prstGeom prst="rect">
            <a:avLst/>
          </a:prstGeom>
        </p:spPr>
      </p:pic>
      <p:sp>
        <p:nvSpPr>
          <p:cNvPr id="25" name="Shape 17">
            <a:hlinkClick r:id="rId10" tooltip="Ke: ⚠ Catatan Penting" action="ppaction://hlinksldjump"/>
          </p:cNvPr>
          <p:cNvSpPr/>
          <p:nvPr/>
        </p:nvSpPr>
        <p:spPr>
          <a:xfrm>
            <a:off x="822960" y="4379976"/>
            <a:ext cx="10515600" cy="768096"/>
          </a:xfrm>
          <a:prstGeom prst="roundRect">
            <a:avLst>
              <a:gd name="adj" fmla="val 11905"/>
            </a:avLst>
          </a:prstGeom>
          <a:solidFill>
            <a:srgbClr val="1C1F49"/>
          </a:solidFill>
          <a:ln w="12700">
            <a:solidFill>
              <a:srgbClr val="2A2D5C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1051560" y="45262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0432" y="464515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783080" y="4453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37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0"/>
          <p:cNvSpPr/>
          <p:nvPr/>
        </p:nvSpPr>
        <p:spPr>
          <a:xfrm>
            <a:off x="2377440" y="44714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Catatan Penting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2377440" y="48006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dibaca sebelum implementasi UPDATE / DELETE</a:t>
            </a:r>
            <a:endParaRPr lang="en-US" sz="11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8520" y="4645152"/>
            <a:ext cx="219456" cy="219456"/>
          </a:xfrm>
          <a:prstGeom prst="rect">
            <a:avLst/>
          </a:prstGeom>
        </p:spPr>
      </p:pic>
      <p:sp>
        <p:nvSpPr>
          <p:cNvPr id="32" name="Shape 22">
            <a:hlinkClick r:id="rId13" tooltip="Ke: Tips Testing di Postman" action="ppaction://hlinksldjump"/>
          </p:cNvPr>
          <p:cNvSpPr/>
          <p:nvPr/>
        </p:nvSpPr>
        <p:spPr>
          <a:xfrm>
            <a:off x="822960" y="5276088"/>
            <a:ext cx="10515600" cy="768096"/>
          </a:xfrm>
          <a:prstGeom prst="roundRect">
            <a:avLst>
              <a:gd name="adj" fmla="val 11905"/>
            </a:avLst>
          </a:prstGeom>
          <a:solidFill>
            <a:srgbClr val="1C1F49"/>
          </a:solidFill>
          <a:ln w="12700">
            <a:solidFill>
              <a:srgbClr val="2A2D5C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1051560" y="542239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0432" y="5541264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783080" y="5349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37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6" name="Text 25"/>
          <p:cNvSpPr/>
          <p:nvPr/>
        </p:nvSpPr>
        <p:spPr>
          <a:xfrm>
            <a:off x="2377440" y="53675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Testing di Postman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2377440" y="56967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variable, auto-save token, urutan test</a:t>
            </a:r>
            <a:endParaRPr lang="en-US" sz="11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18520" y="55412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Istilah Dasar: HTTP &amp; Endpoint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dari 2 — konsep yang paling sering dipakai saat “hit” API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9047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344168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15568" y="1673352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 URL spesifik di server untuk suatu aksi, misalnya /api/login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1371600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49047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93408" y="1344168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(hit endpoint)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693408" y="1673352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Istilah gaul untuk “mengirim request ke endpoint tsb”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57860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6974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2551176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15568" y="288036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aksi HTTP: GET, POST, PUT/PATCH, DELETE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035040" y="257860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6974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93408" y="2551176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693408" y="288036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Jalur/path di backend yang menangani request ke endpoint tsb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785616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90448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15568" y="3758184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115568" y="4087368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tambahan di request/response, mis. Content-Type, Authorization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35040" y="3785616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3904488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93408" y="3758184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6693408" y="4087368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data utama request/response, biasanya format JSON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57200" y="5056632"/>
            <a:ext cx="10835640" cy="1417320"/>
          </a:xfrm>
          <a:prstGeom prst="roundRect">
            <a:avLst>
              <a:gd name="adj" fmla="val 7742"/>
            </a:avLst>
          </a:prstGeom>
          <a:solidFill>
            <a:srgbClr val="EFF1FA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914400" y="5394960"/>
            <a:ext cx="18288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914400" y="53949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(Postman)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2743200" y="5751576"/>
            <a:ext cx="868680" cy="0"/>
          </a:xfrm>
          <a:prstGeom prst="line">
            <a:avLst/>
          </a:prstGeom>
          <a:noFill/>
          <a:ln w="25400">
            <a:solidFill>
              <a:srgbClr val="9497C9"/>
            </a:solidFill>
            <a:prstDash val="solid"/>
            <a:tailEnd type="triangle"/>
          </a:ln>
        </p:spPr>
      </p:sp>
      <p:sp>
        <p:nvSpPr>
          <p:cNvPr id="32" name="Shape 24"/>
          <p:cNvSpPr/>
          <p:nvPr/>
        </p:nvSpPr>
        <p:spPr>
          <a:xfrm>
            <a:off x="3611880" y="5394960"/>
            <a:ext cx="18288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3611880" y="53949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5440680" y="5751576"/>
            <a:ext cx="868680" cy="0"/>
          </a:xfrm>
          <a:prstGeom prst="line">
            <a:avLst/>
          </a:prstGeom>
          <a:noFill/>
          <a:ln w="25400">
            <a:solidFill>
              <a:srgbClr val="9497C9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6309360" y="5394960"/>
            <a:ext cx="18288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309360" y="53949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(API)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8138160" y="5751576"/>
            <a:ext cx="868680" cy="0"/>
          </a:xfrm>
          <a:prstGeom prst="line">
            <a:avLst/>
          </a:prstGeom>
          <a:noFill/>
          <a:ln w="25400">
            <a:solidFill>
              <a:srgbClr val="9497C9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9006840" y="5394960"/>
            <a:ext cx="18288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9006840" y="53949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1828800" y="6108192"/>
            <a:ext cx="0" cy="502920"/>
          </a:xfrm>
          <a:prstGeom prst="line">
            <a:avLst/>
          </a:prstGeom>
          <a:noFill/>
          <a:ln w="19050">
            <a:solidFill>
              <a:srgbClr val="9497C9"/>
            </a:solidFill>
            <a:prstDash val="dash"/>
          </a:ln>
        </p:spPr>
      </p:sp>
      <p:sp>
        <p:nvSpPr>
          <p:cNvPr id="41" name="Shape 33"/>
          <p:cNvSpPr/>
          <p:nvPr/>
        </p:nvSpPr>
        <p:spPr>
          <a:xfrm>
            <a:off x="9921240" y="6108192"/>
            <a:ext cx="0" cy="502920"/>
          </a:xfrm>
          <a:prstGeom prst="line">
            <a:avLst/>
          </a:prstGeom>
          <a:noFill/>
          <a:ln w="19050">
            <a:solidFill>
              <a:srgbClr val="9497C9"/>
            </a:solidFill>
            <a:prstDash val="dash"/>
          </a:ln>
        </p:spPr>
      </p:sp>
      <p:sp>
        <p:nvSpPr>
          <p:cNvPr id="42" name="Text 34"/>
          <p:cNvSpPr/>
          <p:nvPr/>
        </p:nvSpPr>
        <p:spPr>
          <a:xfrm>
            <a:off x="914400" y="6245352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mengirim REQUEST ke Server melalui sebuah endpoint, lalu Server membalas dengan RESPONSE. Aksi ini yang biasa disebut “hit”.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Istilah Dasar: Auth, Token &amp;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dari 2 — konsep keamanan dan struktur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4358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(Authentication)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51790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verifikasi “kamu siapa” — biasanya pakai token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35040" y="12984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8988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0" y="124358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583680" y="151790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pengenal user setelah login, dikirim di header Authorization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231136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2257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1762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 Web Token)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05840" y="245059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token berisi data terenkode (payload) + signature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035040" y="2231136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3225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83680" y="21762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583680" y="245059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penulisan token: Authorization: Bearer eyJhbGci...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316382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55264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3108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05840" y="338328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data yang dibawa dalam request atau di dalam token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035040" y="316382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255264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583680" y="3108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583680" y="338328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 Create, Read, Update, Delete — 4 operasi dasar data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57200" y="4096512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187952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05840" y="40416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1005840" y="431596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“Penjaga” yang mengecek request sebelum sampai ke endpoint tujuan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035040" y="4096512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50800" dist="12700" dir="5400000">
              <a:srgbClr val="C7CAE0">
                <a:alpha val="40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187952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583680" y="40416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6583680" y="431596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angka hasil request — lihat contoh di bawah ↓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457200" y="5074920"/>
            <a:ext cx="10835640" cy="1234440"/>
          </a:xfrm>
          <a:prstGeom prst="roundRect">
            <a:avLst>
              <a:gd name="adj" fmla="val 8889"/>
            </a:avLst>
          </a:prstGeom>
          <a:solidFill>
            <a:srgbClr val="EFF1FA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685800" y="5184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YANG SERING DIPAKAI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685800" y="5458968"/>
            <a:ext cx="1592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200" dirty="0"/>
          </a:p>
        </p:txBody>
      </p:sp>
      <p:sp>
        <p:nvSpPr>
          <p:cNvPr id="39" name="Text 29"/>
          <p:cNvSpPr/>
          <p:nvPr/>
        </p:nvSpPr>
        <p:spPr>
          <a:xfrm>
            <a:off x="685800" y="5897880"/>
            <a:ext cx="1592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2415540" y="5458968"/>
            <a:ext cx="1592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2200" dirty="0"/>
          </a:p>
        </p:txBody>
      </p:sp>
      <p:sp>
        <p:nvSpPr>
          <p:cNvPr id="41" name="Text 31"/>
          <p:cNvSpPr/>
          <p:nvPr/>
        </p:nvSpPr>
        <p:spPr>
          <a:xfrm>
            <a:off x="2415540" y="5897880"/>
            <a:ext cx="1592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050" dirty="0"/>
          </a:p>
        </p:txBody>
      </p:sp>
      <p:sp>
        <p:nvSpPr>
          <p:cNvPr id="42" name="Text 32"/>
          <p:cNvSpPr/>
          <p:nvPr/>
        </p:nvSpPr>
        <p:spPr>
          <a:xfrm>
            <a:off x="4145280" y="5458968"/>
            <a:ext cx="1592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2200" dirty="0"/>
          </a:p>
        </p:txBody>
      </p:sp>
      <p:sp>
        <p:nvSpPr>
          <p:cNvPr id="43" name="Text 33"/>
          <p:cNvSpPr/>
          <p:nvPr/>
        </p:nvSpPr>
        <p:spPr>
          <a:xfrm>
            <a:off x="4145280" y="5897880"/>
            <a:ext cx="1592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5875020" y="5458968"/>
            <a:ext cx="1592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401</a:t>
            </a:r>
            <a:endParaRPr lang="en-US" sz="2200" dirty="0"/>
          </a:p>
        </p:txBody>
      </p:sp>
      <p:sp>
        <p:nvSpPr>
          <p:cNvPr id="45" name="Text 35"/>
          <p:cNvSpPr/>
          <p:nvPr/>
        </p:nvSpPr>
        <p:spPr>
          <a:xfrm>
            <a:off x="5875020" y="5897880"/>
            <a:ext cx="1592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7604760" y="5458968"/>
            <a:ext cx="1592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2200" dirty="0"/>
          </a:p>
        </p:txBody>
      </p:sp>
      <p:sp>
        <p:nvSpPr>
          <p:cNvPr id="47" name="Text 37"/>
          <p:cNvSpPr/>
          <p:nvPr/>
        </p:nvSpPr>
        <p:spPr>
          <a:xfrm>
            <a:off x="7604760" y="5897880"/>
            <a:ext cx="1592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050" dirty="0"/>
          </a:p>
        </p:txBody>
      </p:sp>
      <p:sp>
        <p:nvSpPr>
          <p:cNvPr id="48" name="Text 38"/>
          <p:cNvSpPr/>
          <p:nvPr/>
        </p:nvSpPr>
        <p:spPr>
          <a:xfrm>
            <a:off x="9334500" y="5458968"/>
            <a:ext cx="1592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200" dirty="0"/>
          </a:p>
        </p:txBody>
      </p:sp>
      <p:sp>
        <p:nvSpPr>
          <p:cNvPr id="49" name="Text 39"/>
          <p:cNvSpPr/>
          <p:nvPr/>
        </p:nvSpPr>
        <p:spPr>
          <a:xfrm>
            <a:off x="9334500" y="5897880"/>
            <a:ext cx="1592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Semua Endpoint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 — Autentikasi &amp; CRUD Posts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1298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92040" y="1298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12984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10835640" cy="0"/>
          </a:xfrm>
          <a:prstGeom prst="line">
            <a:avLst/>
          </a:prstGeom>
          <a:noFill/>
          <a:ln w="15875">
            <a:solidFill>
              <a:srgbClr val="E3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19072"/>
            <a:ext cx="10835640" cy="495605"/>
          </a:xfrm>
          <a:prstGeom prst="rect">
            <a:avLst/>
          </a:prstGeom>
          <a:solidFill>
            <a:srgbClr val="EFF1FA"/>
          </a:solidFill>
          <a:ln w="12700">
            <a:solidFill>
              <a:srgbClr val="EFF1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994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99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1719072"/>
            <a:ext cx="292608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/api/register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82057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82057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719072"/>
            <a:ext cx="512064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akun baru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279599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79599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2214677"/>
            <a:ext cx="292608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/api/login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2316175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316175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2214677"/>
            <a:ext cx="512064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dapat token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710282"/>
            <a:ext cx="10835640" cy="495605"/>
          </a:xfrm>
          <a:prstGeom prst="rect">
            <a:avLst/>
          </a:prstGeom>
          <a:solidFill>
            <a:srgbClr val="EFF1FA"/>
          </a:solidFill>
          <a:ln w="12700">
            <a:solidFill>
              <a:srgbClr val="EFF1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775204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7520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2710282"/>
            <a:ext cx="292608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/api/logout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28117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8117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2710282"/>
            <a:ext cx="512064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token saat ini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270809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270809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28800" y="3205886"/>
            <a:ext cx="292608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92040" y="3307385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307385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205886"/>
            <a:ext cx="512064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 login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3701491"/>
            <a:ext cx="10835640" cy="495605"/>
          </a:xfrm>
          <a:prstGeom prst="rect">
            <a:avLst/>
          </a:prstGeom>
          <a:solidFill>
            <a:srgbClr val="EFF1FA"/>
          </a:solidFill>
          <a:ln w="12700">
            <a:solidFill>
              <a:srgbClr val="EFF1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766414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6641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828800" y="3701491"/>
            <a:ext cx="292608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92040" y="380299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80299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72200" y="3701491"/>
            <a:ext cx="512064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semua post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426201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6201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828800" y="4197096"/>
            <a:ext cx="292608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892040" y="429859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429859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72200" y="4197096"/>
            <a:ext cx="512064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post baru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" y="4692701"/>
            <a:ext cx="10835640" cy="495605"/>
          </a:xfrm>
          <a:prstGeom prst="rect">
            <a:avLst/>
          </a:prstGeom>
          <a:solidFill>
            <a:srgbClr val="EFF1FA"/>
          </a:solidFill>
          <a:ln w="12700">
            <a:solidFill>
              <a:srgbClr val="EFF1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757623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757623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828800" y="4692701"/>
            <a:ext cx="292608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/api/posts/{id}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892040" y="4794199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4794199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172200" y="4692701"/>
            <a:ext cx="512064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post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57200" y="525322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52532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828800" y="5188306"/>
            <a:ext cx="292608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/api/posts/{id}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892040" y="52898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52898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172200" y="5188306"/>
            <a:ext cx="512064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post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57200" y="5683910"/>
            <a:ext cx="10835640" cy="495605"/>
          </a:xfrm>
          <a:prstGeom prst="rect">
            <a:avLst/>
          </a:prstGeom>
          <a:solidFill>
            <a:srgbClr val="EFF1FA"/>
          </a:solidFill>
          <a:ln w="12700">
            <a:solidFill>
              <a:srgbClr val="EFF1F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5748833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5748833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828800" y="5683910"/>
            <a:ext cx="292608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/api/posts/{id}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892040" y="5785409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92040" y="5785409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172200" y="5683910"/>
            <a:ext cx="512064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post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57200" y="6161227"/>
            <a:ext cx="1083564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/api/register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241280" y="40233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402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Mendaftarkan akun user baru ke sistem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120640" cy="4297680"/>
          </a:xfrm>
          <a:prstGeom prst="roundRect">
            <a:avLst>
              <a:gd name="adj" fmla="val 191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103120"/>
            <a:ext cx="471830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"Budi Santoso"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"budi@example.com"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"rahasia123"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"password_confirmation"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"rahasia123"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0" y="13716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13716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1737360"/>
            <a:ext cx="4965192" cy="4297680"/>
          </a:xfrm>
          <a:prstGeom prst="roundRect">
            <a:avLst>
              <a:gd name="adj" fmla="val 191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16752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2103120"/>
            <a:ext cx="456285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"Registrasi berhasil"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"Budi Santoso"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"budi@example.com"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"2026-09-22T10:00:00Z"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/api/login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241280" y="40233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402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dan mendapatkan token untuk akses endpoint lain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120640" cy="3246120"/>
          </a:xfrm>
          <a:prstGeom prst="roundRect">
            <a:avLst>
              <a:gd name="adj" fmla="val 253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103120"/>
            <a:ext cx="4718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"budi@example.com"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"rahasia123"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21240" y="13716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13716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1737360"/>
            <a:ext cx="4965192" cy="3246120"/>
          </a:xfrm>
          <a:prstGeom prst="roundRect">
            <a:avLst>
              <a:gd name="adj" fmla="val 253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16752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2103120"/>
            <a:ext cx="45628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 berhasil"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"token"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"eyJhbGciOiJIUzI1NiIs..."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"token_type"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"Bearer"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"Budi Santoso"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"budi@example.com"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166360"/>
            <a:ext cx="10360152" cy="777240"/>
          </a:xfrm>
          <a:prstGeom prst="roundRect">
            <a:avLst>
              <a:gd name="adj" fmla="val 11765"/>
            </a:avLst>
          </a:prstGeom>
          <a:solidFill>
            <a:srgbClr val="FFF7E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367528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97280" y="51663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Login membalas 200 OK (bukan 201) karena tidak membuat resource baru, hanya mengembalikan token akses.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Logout &amp; Data User Login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endpoint ini tidak butuh request body — cukup header Authorization: Bearer &lt;token&gt;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/api/logout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39903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39903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token saat ini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92640" y="139903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0" y="13990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10360152" cy="123444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0665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0665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0665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286000"/>
            <a:ext cx="9957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"Logout berhasil, token telah dihapus"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20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35478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5478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 login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354787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354787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10360152" cy="1691640"/>
          </a:xfrm>
          <a:prstGeom prst="roundRect">
            <a:avLst>
              <a:gd name="adj" fmla="val 486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" y="42153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2153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4128" y="42153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434840"/>
            <a:ext cx="9957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"Budi Santoso"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"budi@example.com"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"2026-09-22T10:00:00Z"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241280" y="40233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402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daftar semua post milik user (tidak ada request body)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92640" y="13716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0" y="13716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10360152" cy="4343400"/>
          </a:xfrm>
          <a:prstGeom prst="roundRect">
            <a:avLst>
              <a:gd name="adj" fmla="val 189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103120"/>
            <a:ext cx="99578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"Daftar post berhasil diambil"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"Belajar JWT di Laravel"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"Ini isi post pertama..."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"user_id"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"2026-09-20T08:00:00Z"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"Testing API dengan Postman"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"Ini isi post kedua..."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"user_id"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"2026-09-21T09:30:00Z"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241280" y="40233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402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post baru — otomatis terhubung ke user yang sedang login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120640" cy="4297680"/>
          </a:xfrm>
          <a:prstGeom prst="roundRect">
            <a:avLst>
              <a:gd name="adj" fmla="val 191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103120"/>
            <a:ext cx="471830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"Endpoint CRUD Sederhana"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"Belajar membuat endpoint"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0" y="13716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13716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1737360"/>
            <a:ext cx="4965192" cy="4297680"/>
          </a:xfrm>
          <a:prstGeom prst="roundRect">
            <a:avLst>
              <a:gd name="adj" fmla="val 191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16752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2103120"/>
            <a:ext cx="456285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 berhasil dibuat"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"Endpoint CRUD Sederhana"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"Belajar membuat endpoint"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"user_id"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"2026-09-22T10:15:00Z"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/api/posts/{id}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241280" y="40233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402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detail satu post berdasarkan id (contoh: /api/posts/3)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— DITEMUKAN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3716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5120640" cy="4297680"/>
          </a:xfrm>
          <a:prstGeom prst="roundRect">
            <a:avLst>
              <a:gd name="adj" fmla="val 191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103120"/>
            <a:ext cx="471830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"Endpoint CRUD Sederhana"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"Belajar membuat endpoint"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"user_id"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"2026-09-22T10:15:00Z"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— TIDAK DITEMUKAN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64040" y="13716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13716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1737360"/>
            <a:ext cx="4965192" cy="1874520"/>
          </a:xfrm>
          <a:prstGeom prst="roundRect">
            <a:avLst>
              <a:gd name="adj" fmla="val 439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16752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908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2103120"/>
            <a:ext cx="4562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 tidak ditemukan"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840480"/>
            <a:ext cx="4965192" cy="2194560"/>
          </a:xfrm>
          <a:prstGeom prst="roundRect">
            <a:avLst>
              <a:gd name="adj" fmla="val 4167"/>
            </a:avLst>
          </a:prstGeom>
          <a:solidFill>
            <a:srgbClr val="EFF1FA"/>
          </a:solidFill>
          <a:ln w="12700">
            <a:solidFill>
              <a:srgbClr val="E3E5F0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4023360"/>
            <a:ext cx="329184" cy="32918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537960" y="3986784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muncul kalau id di URL tidak ada di database sama sekali — beda dengan 403 (ada, tapi bukan milik user ini). Lihat slide Catatan Penting.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/api/posts/{id}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241280" y="40233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402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Memperbarui post yang sudah ada — hanya boleh oleh pemiliknya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120640" cy="3246120"/>
          </a:xfrm>
          <a:prstGeom prst="roundRect">
            <a:avLst>
              <a:gd name="adj" fmla="val 253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103120"/>
            <a:ext cx="4718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"Endpoint CRUD (Revisi)"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"Konten sudah diperbarui"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21240" y="13716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13716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1737360"/>
            <a:ext cx="4965192" cy="3246120"/>
          </a:xfrm>
          <a:prstGeom prst="roundRect">
            <a:avLst>
              <a:gd name="adj" fmla="val 253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16752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2103120"/>
            <a:ext cx="45628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 berhasil diperbarui"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"Endpoint CRUD (Revisi)"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"Konten sudah diperbarui"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"user_id"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"updated_at"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"2026-09-22T10:20:00Z"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Shape 21">
            <a:hlinkClick r:id="rId1" tooltip="Lihat Catatan Penting" action="ppaction://hlinksldjump"/>
          </p:cNvPr>
          <p:cNvSpPr/>
          <p:nvPr/>
        </p:nvSpPr>
        <p:spPr>
          <a:xfrm>
            <a:off x="457200" y="5166360"/>
            <a:ext cx="10360152" cy="777240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367528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97280" y="51663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Wajib: token milik user yang login, dan post harus benar-benar milik user tsb. Klik untuk lihat Catatan Penting →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/api/posts/{id}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241280" y="40233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402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post — hanya boleh oleh pemiliknya, dan post harus ada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EFF1FA"/>
          </a:solidFill>
          <a:ln w="12700">
            <a:solidFill>
              <a:srgbClr val="E3E5F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20574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C3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Tidak ada request body.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C3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Cukup kirim header: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C3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&lt;token&gt;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8521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921240" y="15087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21240" y="1508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0" y="1874520"/>
            <a:ext cx="4965192" cy="13716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16752" y="20208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20208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19088" y="20208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2240280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 berhasil dihapus"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Shape 18">
            <a:hlinkClick r:id="rId2" tooltip="Lihat Catatan Penting" action="ppaction://hlinksldjump"/>
          </p:cNvPr>
          <p:cNvSpPr/>
          <p:nvPr/>
        </p:nvSpPr>
        <p:spPr>
          <a:xfrm>
            <a:off x="457200" y="3703320"/>
            <a:ext cx="10360152" cy="2148840"/>
          </a:xfrm>
          <a:prstGeom prst="roundRect">
            <a:avLst>
              <a:gd name="adj" fmla="val 5957"/>
            </a:avLst>
          </a:prstGeom>
          <a:solidFill>
            <a:srgbClr val="2A0A0A"/>
          </a:solidFill>
          <a:ln w="19050">
            <a:solidFill>
              <a:srgbClr val="DC2626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39502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paling sensitif — jangan asal izinkan!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463040" y="4370832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menghapus, wajib dicek: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token valid &amp; sesuai user yang login,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post dengan id tsb sudah ada isinya di database, dan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user_id pada post sama dengan id pemilik token.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2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salah satu tidak terpenuhi, tolak dengan 401/403/404 — jangan lanjut hapus data.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63040" y="56235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kotak ini untuk detail lengkap → slide Catatan Penting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Penting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70432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Auth &amp; Kepemilikan Data (WAJIB untuk UPDATE / DELETE)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Token Harus Sesuai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58368" y="1828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endpoint yang mengubah data (logout, posts POST/PUT/DELETE) wajib header Authorization: Bearer &lt;token&gt; milik user yang login.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840480" y="12344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4173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2628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Post Harus Ada Isinya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041648" y="1828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UPDATE/DELETE, post dengan {id} tsb wajib sudah tercatat di database (bukan kosong/belum pernah dibuat).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223760" y="1234440"/>
            <a:ext cx="35935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14173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095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Harus Sesuai Pemilik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7424928" y="18288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user_id pada post harus sama dengan id user pemilik token yang sedang hit endpoint tsb.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078992" y="2862072"/>
            <a:ext cx="5870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mengirim request + Authorization: Bearer &lt;token&gt;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85800" y="3337560"/>
            <a:ext cx="0" cy="201168"/>
          </a:xfrm>
          <a:prstGeom prst="line">
            <a:avLst/>
          </a:prstGeom>
          <a:noFill/>
          <a:ln w="19050">
            <a:solidFill>
              <a:srgbClr val="9497C9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457200" y="3538728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078992" y="3520440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cek token valid, belum expired, &amp; benar milik user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303520" y="3557016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303520" y="355701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Gagal → 401 Unauthorized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85800" y="3995928"/>
            <a:ext cx="0" cy="201168"/>
          </a:xfrm>
          <a:prstGeom prst="line">
            <a:avLst/>
          </a:prstGeom>
          <a:noFill/>
          <a:ln w="19050">
            <a:solidFill>
              <a:srgbClr val="9497C9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457200" y="4197096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5720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078992" y="4178808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cek: post dengan {id} tsb ada di database?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303520" y="4215384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303520" y="42153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Gagal → 404 Not Found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85800" y="4654296"/>
            <a:ext cx="0" cy="201168"/>
          </a:xfrm>
          <a:prstGeom prst="line">
            <a:avLst/>
          </a:prstGeom>
          <a:noFill/>
          <a:ln w="19050">
            <a:solidFill>
              <a:srgbClr val="9497C9"/>
            </a:solidFill>
            <a:prstDash val="dash"/>
          </a:ln>
        </p:spPr>
      </p:sp>
      <p:sp>
        <p:nvSpPr>
          <p:cNvPr id="34" name="Shape 28"/>
          <p:cNvSpPr/>
          <p:nvPr/>
        </p:nvSpPr>
        <p:spPr>
          <a:xfrm>
            <a:off x="457200" y="4855464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5720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1078992" y="4837176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cek: user_id di post = id user pemilik token?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5303520" y="487375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303520" y="48737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Gagal → 403 Forbidden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685800" y="5312664"/>
            <a:ext cx="0" cy="201168"/>
          </a:xfrm>
          <a:prstGeom prst="line">
            <a:avLst/>
          </a:prstGeom>
          <a:noFill/>
          <a:ln w="19050">
            <a:solidFill>
              <a:srgbClr val="9497C9"/>
            </a:solidFill>
            <a:prstDash val="dash"/>
          </a:ln>
        </p:spPr>
      </p:sp>
      <p:sp>
        <p:nvSpPr>
          <p:cNvPr id="40" name="Shape 34"/>
          <p:cNvSpPr/>
          <p:nvPr/>
        </p:nvSpPr>
        <p:spPr>
          <a:xfrm>
            <a:off x="457200" y="551383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5720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Text 36"/>
          <p:cNvSpPr/>
          <p:nvPr/>
        </p:nvSpPr>
        <p:spPr>
          <a:xfrm>
            <a:off x="1078992" y="5495544"/>
            <a:ext cx="5870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Baru diizinkan lanjut UPDATE / DELETE data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722376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RESPONSE 401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7223760" y="3127248"/>
            <a:ext cx="3593592" cy="1051560"/>
          </a:xfrm>
          <a:prstGeom prst="roundRect">
            <a:avLst>
              <a:gd name="adj" fmla="val 7826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7388352" y="327355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589520" y="327355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7790688" y="327355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7424928" y="3493008"/>
            <a:ext cx="3191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"Token tidak valid"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7223760" y="4370832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RESPONSE 403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7223760" y="4663440"/>
            <a:ext cx="3593592" cy="123444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76200" dist="25400" dir="5400000">
              <a:srgbClr val="1B1E3D">
                <a:alpha val="35000"/>
              </a:srgbClr>
            </a:outerShdw>
          </a:effectLst>
        </p:spPr>
      </p:sp>
      <p:sp>
        <p:nvSpPr>
          <p:cNvPr id="51" name="Shape 45"/>
          <p:cNvSpPr/>
          <p:nvPr/>
        </p:nvSpPr>
        <p:spPr>
          <a:xfrm>
            <a:off x="7388352" y="48097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7589520" y="48097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790688" y="48097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7424928" y="5029200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"Anda bukan pemilik post ini"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Testing di Postman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Supaya testing endpoint di atas lebih cepat dan rapi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36015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12700" dir="5400000">
              <a:srgbClr val="C7CAE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36776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EFF1FA"/>
          </a:solidFill>
          <a:ln w="12700">
            <a:solidFill>
              <a:srgbClr val="EFF1F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9222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361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Token di Environment Variable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token hasil login ke variable {{token}} pada Postman Environment, jangan tempel manual di tiap request.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642616"/>
            <a:ext cx="1036015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12700" dir="5400000">
              <a:srgbClr val="C7CAE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86207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EFF1FA"/>
          </a:solidFill>
          <a:ln w="12700">
            <a:solidFill>
              <a:srgbClr val="EFF1F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01752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7614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Token via Tab “Tests”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508760" y="3099816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endpoint Login, tambahkan script: pm.environment.set("token", pm.response.json().token); — token otomatis tersimpan tiap login.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867912"/>
            <a:ext cx="1036015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12700" dir="5400000">
              <a:srgbClr val="C7CAE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4087368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EFF1FA"/>
          </a:solidFill>
          <a:ln w="12700">
            <a:solidFill>
              <a:srgbClr val="EFF1F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24281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86784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Authorization Header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4325112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Authorization → Bearer {{token}} di tiap request yang butuh Auth, atau pakai “Inherit auth from parent” di Collection.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5093208"/>
            <a:ext cx="1036015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12700" dir="5400000">
              <a:srgbClr val="C7CAE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531266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EFF1FA"/>
          </a:solidFill>
          <a:ln w="12700">
            <a:solidFill>
              <a:srgbClr val="EFF1F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4681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2120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Ikuti Urutan Collection Runner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08760" y="5550408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berurutan: Register → Login → CRUD Posts → Logout, supaya token selalu valid saat testing berjalan.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B1E49"/>
          </a:solidFill>
          <a:ln w="12700">
            <a:solidFill>
              <a:srgbClr val="1B1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931920"/>
            <a:ext cx="4023360" cy="4023360"/>
          </a:xfrm>
          <a:prstGeom prst="ellipse">
            <a:avLst/>
          </a:prstGeom>
          <a:solidFill>
            <a:srgbClr val="1B1E49"/>
          </a:solidFill>
          <a:ln w="12700">
            <a:solidFill>
              <a:srgbClr val="1B1E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92624" y="105156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 w="12700">
            <a:solidFill>
              <a:srgbClr val="2E3B8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2936" y="12618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Selamat Mencoba &amp; Selamat Coding!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Ikuti urutan ini setiap kali testing ulang dari awal: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3429000"/>
            <a:ext cx="1898294" cy="658368"/>
          </a:xfrm>
          <a:prstGeom prst="roundRect">
            <a:avLst>
              <a:gd name="adj" fmla="val 16667"/>
            </a:avLst>
          </a:prstGeom>
          <a:solidFill>
            <a:srgbClr val="1C1F49"/>
          </a:solidFill>
          <a:ln w="12700">
            <a:solidFill>
              <a:srgbClr val="2E3B8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429000"/>
            <a:ext cx="18982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542" y="3630168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77286" y="3429000"/>
            <a:ext cx="1898294" cy="658368"/>
          </a:xfrm>
          <a:prstGeom prst="roundRect">
            <a:avLst>
              <a:gd name="adj" fmla="val 16667"/>
            </a:avLst>
          </a:prstGeom>
          <a:solidFill>
            <a:srgbClr val="1C1F49"/>
          </a:solidFill>
          <a:ln w="12700">
            <a:solidFill>
              <a:srgbClr val="2E3B8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77286" y="3429000"/>
            <a:ext cx="18982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(dapat token)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869" y="3630168"/>
            <a:ext cx="219456" cy="21945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131613" y="3429000"/>
            <a:ext cx="1898294" cy="658368"/>
          </a:xfrm>
          <a:prstGeom prst="roundRect">
            <a:avLst>
              <a:gd name="adj" fmla="val 16667"/>
            </a:avLst>
          </a:prstGeom>
          <a:solidFill>
            <a:srgbClr val="1C1F49"/>
          </a:solidFill>
          <a:ln w="12700">
            <a:solidFill>
              <a:srgbClr val="2E3B8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131613" y="3429000"/>
            <a:ext cx="18982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token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195" y="3630168"/>
            <a:ext cx="219456" cy="219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285939" y="3429000"/>
            <a:ext cx="1898294" cy="658368"/>
          </a:xfrm>
          <a:prstGeom prst="roundRect">
            <a:avLst>
              <a:gd name="adj" fmla="val 16667"/>
            </a:avLst>
          </a:prstGeom>
          <a:solidFill>
            <a:srgbClr val="1C1F49"/>
          </a:solidFill>
          <a:ln w="12700">
            <a:solidFill>
              <a:srgbClr val="2E3B8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285939" y="3429000"/>
            <a:ext cx="18982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endpoint Auth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2522" y="3630168"/>
            <a:ext cx="219456" cy="21945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440266" y="3429000"/>
            <a:ext cx="1898294" cy="658368"/>
          </a:xfrm>
          <a:prstGeom prst="roundRect">
            <a:avLst>
              <a:gd name="adj" fmla="val 16667"/>
            </a:avLst>
          </a:prstGeom>
          <a:solidFill>
            <a:srgbClr val="1C1F49"/>
          </a:solidFill>
          <a:ln w="12700">
            <a:solidFill>
              <a:srgbClr val="2E3B8E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9440266" y="3429000"/>
            <a:ext cx="189829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2651760" y="4572000"/>
            <a:ext cx="6858000" cy="0"/>
          </a:xfrm>
          <a:prstGeom prst="line">
            <a:avLst/>
          </a:prstGeom>
          <a:noFill/>
          <a:ln w="12700">
            <a:solidFill>
              <a:srgbClr val="2A2D5C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 sebagai referensi belajar autentikasi API (JWT) dan CRUD Posts.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2026-09-22T04:02:09Z</dcterms:created>
  <dcterms:modified xsi:type="dcterms:W3CDTF">2026-09-22T04:02:09Z</dcterms:modified>
</cp:coreProperties>
</file>