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1.png"/><Relationship Id="rId3" Type="http://schemas.openxmlformats.org/officeDocument/2006/relationships/image" Target="../media/image-13-3.png"/><Relationship Id="rId4" Type="http://schemas.openxmlformats.org/officeDocument/2006/relationships/image" Target="../media/image-13-3.png"/><Relationship Id="rId5" Type="http://schemas.openxmlformats.org/officeDocument/2006/relationships/image" Target="../media/image-13-3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22C54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22C54"/>
          </a:solidFill>
          <a:ln/>
        </p:spPr>
      </p:sp>
      <p:sp>
        <p:nvSpPr>
          <p:cNvPr id="4" name="Shape 2"/>
          <p:cNvSpPr/>
          <p:nvPr/>
        </p:nvSpPr>
        <p:spPr>
          <a:xfrm>
            <a:off x="685800" y="868680"/>
            <a:ext cx="777240" cy="7772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5" name="Image 0" descr="/home/claude/authppt/icons/shield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841" y="969721"/>
            <a:ext cx="575158" cy="5751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965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TOPIK 4 · ROADMAP BACKEND DEVELOPMENT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94360" y="2331720"/>
            <a:ext cx="10515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Autentikasi API</a:t>
            </a:r>
            <a:endParaRPr lang="en-US" sz="5400" dirty="0"/>
          </a:p>
        </p:txBody>
      </p:sp>
      <p:sp>
        <p:nvSpPr>
          <p:cNvPr id="8" name="Text 5"/>
          <p:cNvSpPr/>
          <p:nvPr/>
        </p:nvSpPr>
        <p:spPr>
          <a:xfrm>
            <a:off x="64008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·  OAuth2  ·  Session vs Token  ·  Middleware Security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640080" y="4160520"/>
            <a:ext cx="2926080" cy="0"/>
          </a:xfrm>
          <a:prstGeom prst="line">
            <a:avLst/>
          </a:prstGeom>
          <a:noFill/>
          <a:ln w="31750">
            <a:solidFill>
              <a:srgbClr val="00C2D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40080" y="4389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Memahami cara API mengenali “siapa yang boleh mengakses apa” — dari login sederhana sampai token yang aman.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PEMBAHASAN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Bagian Inti Materi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5" name="Image 0" descr="/home/claude/authppt/icons/usercheck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781" y="1948221"/>
            <a:ext cx="419527" cy="41952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1728216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417320" y="1819656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Butuh Autentikasi?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417320" y="2185416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vs otorisasi, dan risikonya kalau tidak ada.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40080" y="2770632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0" name="Image 1" descr="/home/claude/authppt/icons/book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81" y="2844333"/>
            <a:ext cx="419527" cy="419527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" y="2624328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1417320" y="2715768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vs Token-based Auth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417320" y="3081528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cara berbeda untuk “mengingat” siapa yang login.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640080" y="3666744"/>
            <a:ext cx="566928" cy="56692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5" name="Image 2" descr="/home/claude/authppt/icons/key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81" y="3740445"/>
            <a:ext cx="419527" cy="41952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0080" y="3520440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1417320" y="3611880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(JSON Web Token)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41732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Struktur, keamanan, dan alur penggunaannya.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40080" y="4562856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0" name="Image 3" descr="/home/claude/authppt/icons/google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781" y="4636557"/>
            <a:ext cx="419527" cy="41952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40080" y="4416552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417320" y="4507992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1417320" y="4873752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 memberi akses ke pihak lain tanpa membagikan password.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40080" y="5458968"/>
            <a:ext cx="566928" cy="56692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5" name="Image 4" descr="/home/claude/authppt/icons/usershield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781" y="5532669"/>
            <a:ext cx="419527" cy="419527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5312664"/>
            <a:ext cx="274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1417320" y="5404104"/>
            <a:ext cx="5760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Security</a:t>
            </a:r>
            <a:endParaRPr lang="en-US" sz="1700" dirty="0"/>
          </a:p>
        </p:txBody>
      </p:sp>
      <p:sp>
        <p:nvSpPr>
          <p:cNvPr id="28" name="Text 21"/>
          <p:cNvSpPr/>
          <p:nvPr/>
        </p:nvSpPr>
        <p:spPr>
          <a:xfrm>
            <a:off x="1417320" y="5769864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“Satpam” yang menjaga endpoint sebelum diproses.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Kenapa API Butuh Autentikasi?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44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60120" y="2194560"/>
            <a:ext cx="502920" cy="502920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6" name="Image 0" descr="/home/claude/authppt/icons/lockopen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550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21284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Tanpa Autentikasi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60120" y="2697480"/>
            <a:ext cx="44805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pun yang tahu endpoint—</a:t>
            </a:r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B027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/api/buku/1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—bisa langsung menghapus data, tanpa login sama sekali.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60120" y="3886200"/>
            <a:ext cx="4480560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60120" y="4069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Idealnya: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960120" y="4370832"/>
            <a:ext cx="4480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orang boleh MELIHAT data (GET)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✓"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Hanya yang login boleh TAMBAH / EDIT / HAPUS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172200" y="187452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0B1F3A"/>
          </a:solidFill>
          <a:ln/>
          <a:effectLst>
            <a:outerShdw sx="100000" sy="100000" kx="0" ky="0" algn="bl" rotWithShape="0" blurRad="152400" dist="50800" dir="5400000">
              <a:srgbClr val="1B2A44">
                <a:alpha val="2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492240" y="219456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4" name="Image 1" descr="/home/claude/authppt/icons/idcard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7620" y="2259940"/>
            <a:ext cx="372161" cy="37216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178040" y="221284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6492240" y="274320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0C2D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Kartu Anggota Perpustakaan</a:t>
            </a:r>
            <a:endParaRPr lang="en-US" sz="1700" dirty="0"/>
          </a:p>
        </p:txBody>
      </p:sp>
      <p:sp>
        <p:nvSpPr>
          <p:cNvPr id="17" name="Text 13"/>
          <p:cNvSpPr/>
          <p:nvPr/>
        </p:nvSpPr>
        <p:spPr>
          <a:xfrm>
            <a:off x="6492240" y="320040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boleh pinjam buku, petugas mengecek dulu kartu anggota kamu — memastikan kamu benar terdaftar, bukan orang asing yang sekadar lewat.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92240" y="4343400"/>
            <a:ext cx="475488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6492240" y="4526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  </a:t>
            </a:r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memastikan “kamu ini siapa”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6492240" y="493776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Otorisasi  </a:t>
            </a:r>
            <a:pPr indent="0" marL="0"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memastikan “kamu boleh apa saja”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2 — CARA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Session-based Authentication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A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75688"/>
            <a:ext cx="566928" cy="566928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6" name="Image 0" descr="/home/claude/authppt/icons/book_FFFF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13" y="214938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Buku Tamu Gedung  —  </a:t>
            </a:r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Resepsionis mencatat namamu di buku tamu, lalu satpam mengecek balik ke buku itu setiap kamu masuk ruangan lain.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99032" y="3474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email + password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96896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871216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0168" y="3474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6" name="Text 13"/>
          <p:cNvSpPr/>
          <p:nvPr/>
        </p:nvSpPr>
        <p:spPr>
          <a:xfrm>
            <a:off x="2871216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80944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catat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80944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“user login” disimpan di server (session)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28032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102352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61304" y="3474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2" name="Text 19"/>
          <p:cNvSpPr/>
          <p:nvPr/>
        </p:nvSpPr>
        <p:spPr>
          <a:xfrm>
            <a:off x="5102352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1208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Dapat cookie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12080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kasih session ID via cookie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059168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7333488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2440" y="3474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8" name="Text 25"/>
          <p:cNvSpPr/>
          <p:nvPr/>
        </p:nvSpPr>
        <p:spPr>
          <a:xfrm>
            <a:off x="7333488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43216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berikutnya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43216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 otomatis kirim cookie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290304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9564624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3576" y="3474720"/>
            <a:ext cx="438912" cy="438912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4" name="Text 31"/>
          <p:cNvSpPr/>
          <p:nvPr/>
        </p:nvSpPr>
        <p:spPr>
          <a:xfrm>
            <a:off x="9564624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674352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cek ulang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674352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Cocokkan session ID ke data server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40080" y="57607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38" name="Text 35"/>
          <p:cNvSpPr/>
          <p:nvPr/>
        </p:nvSpPr>
        <p:spPr>
          <a:xfrm>
            <a:off x="914400" y="5760720"/>
            <a:ext cx="10332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WAJIB menyimpan catatan setiap user yang login (butuh memory/storage).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2 — CARA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Token-based Authentication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EA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2075688"/>
            <a:ext cx="566928" cy="566928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authppt/icons/ticket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813" y="2149389"/>
            <a:ext cx="419527" cy="41952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2075688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Gelang Konser  —  </a:t>
            </a:r>
            <a:pPr indent="0" marL="0"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Panitia memberi gelang berstempel resmi. Satpam cukup lihat gelangnya, tanpa perlu telepon balik ke panitia.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399032" y="3474720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49808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9808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email + password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2596896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2871216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630168" y="3474720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16" name="Text 13"/>
          <p:cNvSpPr/>
          <p:nvPr/>
        </p:nvSpPr>
        <p:spPr>
          <a:xfrm>
            <a:off x="2871216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2980944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buat token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980944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info user + tanda tangan digital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4828032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5102352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61304" y="3474720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2" name="Text 19"/>
          <p:cNvSpPr/>
          <p:nvPr/>
        </p:nvSpPr>
        <p:spPr>
          <a:xfrm>
            <a:off x="5102352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5212080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sendiri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5212080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menyimpan token tanpa server ikut menyimpan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7059168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26" name="Shape 23"/>
          <p:cNvSpPr/>
          <p:nvPr/>
        </p:nvSpPr>
        <p:spPr>
          <a:xfrm>
            <a:off x="7333488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092440" y="3474720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28" name="Text 25"/>
          <p:cNvSpPr/>
          <p:nvPr/>
        </p:nvSpPr>
        <p:spPr>
          <a:xfrm>
            <a:off x="7333488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7443216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di header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443216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&lt;token&gt;</a:t>
            </a:r>
            <a:endParaRPr lang="en-US" sz="1050" dirty="0"/>
          </a:p>
        </p:txBody>
      </p:sp>
      <p:sp>
        <p:nvSpPr>
          <p:cNvPr id="31" name="Text 28"/>
          <p:cNvSpPr/>
          <p:nvPr/>
        </p:nvSpPr>
        <p:spPr>
          <a:xfrm>
            <a:off x="9290304" y="4206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2200" dirty="0"/>
          </a:p>
        </p:txBody>
      </p:sp>
      <p:sp>
        <p:nvSpPr>
          <p:cNvPr id="32" name="Shape 29"/>
          <p:cNvSpPr/>
          <p:nvPr/>
        </p:nvSpPr>
        <p:spPr>
          <a:xfrm>
            <a:off x="9564624" y="3246120"/>
            <a:ext cx="1956816" cy="2286000"/>
          </a:xfrm>
          <a:prstGeom prst="roundRect">
            <a:avLst>
              <a:gd name="adj" fmla="val 467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0323576" y="3474720"/>
            <a:ext cx="438912" cy="438912"/>
          </a:xfrm>
          <a:prstGeom prst="ellipse">
            <a:avLst/>
          </a:prstGeom>
          <a:solidFill>
            <a:srgbClr val="0B1F3A"/>
          </a:solidFill>
          <a:ln/>
        </p:spPr>
      </p:sp>
      <p:sp>
        <p:nvSpPr>
          <p:cNvPr id="34" name="Text 31"/>
          <p:cNvSpPr/>
          <p:nvPr/>
        </p:nvSpPr>
        <p:spPr>
          <a:xfrm>
            <a:off x="9564624" y="3474720"/>
            <a:ext cx="1956816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9674352" y="411480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 tanda tangan</a:t>
            </a:r>
            <a:endParaRPr lang="en-US" sz="1300" dirty="0"/>
          </a:p>
        </p:txBody>
      </p:sp>
      <p:sp>
        <p:nvSpPr>
          <p:cNvPr id="36" name="Text 33"/>
          <p:cNvSpPr/>
          <p:nvPr/>
        </p:nvSpPr>
        <p:spPr>
          <a:xfrm>
            <a:off x="9674352" y="4544568"/>
            <a:ext cx="1737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tidak perlu simpan data apa pun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640080" y="5760720"/>
            <a:ext cx="10881360" cy="621792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38" name="Text 35"/>
          <p:cNvSpPr/>
          <p:nvPr/>
        </p:nvSpPr>
        <p:spPr>
          <a:xfrm>
            <a:off x="914400" y="5760720"/>
            <a:ext cx="10332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Ciri khas: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bersifat stateless — cukup verifikasi keaslian token, tanpa menyimpan apa pun.</a:t>
            </a:r>
            <a:endParaRPr lang="en-US" sz="1300" dirty="0"/>
          </a:p>
        </p:txBody>
      </p:sp>
      <p:sp>
        <p:nvSpPr>
          <p:cNvPr id="39" name="Text 36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PERBANDINGAN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Session vs Token — Mana yang Dipakai API?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F3F7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87452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Aspek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453128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B1F3A"/>
          </a:solidFill>
          <a:ln/>
        </p:spPr>
      </p:sp>
      <p:sp>
        <p:nvSpPr>
          <p:cNvPr id="7" name="Shape 5"/>
          <p:cNvSpPr/>
          <p:nvPr/>
        </p:nvSpPr>
        <p:spPr>
          <a:xfrm>
            <a:off x="4681728" y="200253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0" descr="/home/claude/authppt/icons/book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48296" y="2069104"/>
            <a:ext cx="378927" cy="37892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321808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66176" y="1874520"/>
            <a:ext cx="3566160" cy="777240"/>
          </a:xfrm>
          <a:prstGeom prst="roundRect">
            <a:avLst>
              <a:gd name="adj" fmla="val 9412"/>
            </a:avLst>
          </a:prstGeom>
          <a:solidFill>
            <a:srgbClr val="00C2D1"/>
          </a:solidFill>
          <a:ln/>
        </p:spPr>
      </p:sp>
      <p:sp>
        <p:nvSpPr>
          <p:cNvPr id="11" name="Shape 8"/>
          <p:cNvSpPr/>
          <p:nvPr/>
        </p:nvSpPr>
        <p:spPr>
          <a:xfrm>
            <a:off x="8494776" y="2002536"/>
            <a:ext cx="512064" cy="512064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home/claude/authppt/icons/ticket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61344" y="2069104"/>
            <a:ext cx="378927" cy="37892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134856" y="1874520"/>
            <a:ext cx="25603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</a:t>
            </a:r>
            <a:endParaRPr lang="en-US" sz="1500" dirty="0"/>
          </a:p>
        </p:txBody>
      </p:sp>
      <p:sp>
        <p:nvSpPr>
          <p:cNvPr id="14" name="Shape 10"/>
          <p:cNvSpPr/>
          <p:nvPr/>
        </p:nvSpPr>
        <p:spPr>
          <a:xfrm>
            <a:off x="640080" y="274320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68680" y="27432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disimpan di server?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453128" y="274320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81728" y="27432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Ya, wajib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266176" y="2743200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494776" y="2743200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 (stateless)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640080" y="345643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68680" y="3456432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Cocok untuk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4453128" y="345643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681728" y="3456432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tradisional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8266176" y="3456432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494776" y="3456432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&amp; mobile app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0080" y="4169664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68680" y="416966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Skalabilitas</a:t>
            </a:r>
            <a:endParaRPr lang="en-US" sz="1250" dirty="0"/>
          </a:p>
        </p:txBody>
      </p:sp>
      <p:sp>
        <p:nvSpPr>
          <p:cNvPr id="28" name="Shape 24"/>
          <p:cNvSpPr/>
          <p:nvPr/>
        </p:nvSpPr>
        <p:spPr>
          <a:xfrm>
            <a:off x="4453128" y="4169664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681728" y="416966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Terbatas oleh storage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8266176" y="4169664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494776" y="4169664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Lebih mudah di-scale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640080" y="4882896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EAF1FB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68680" y="48828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di roadmap ini?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453128" y="4882896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4681728" y="48828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8266176" y="4882896"/>
            <a:ext cx="356616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8494776" y="4882896"/>
            <a:ext cx="3200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 — lewat JWT</a:t>
            </a:r>
            <a:endParaRPr lang="en-US" sz="1250" dirty="0"/>
          </a:p>
        </p:txBody>
      </p:sp>
      <p:sp>
        <p:nvSpPr>
          <p:cNvPr id="38" name="Text 34"/>
          <p:cNvSpPr/>
          <p:nvPr/>
        </p:nvSpPr>
        <p:spPr>
          <a:xfrm>
            <a:off x="640080" y="5733288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kamu (mis. API Buku) menerima permintaan dari web maupun mobile — karena itu token-based (JWT) jadi pilihan yang lebih praktis.</a:t>
            </a:r>
            <a:endParaRPr lang="en-US" sz="1250" dirty="0"/>
          </a:p>
        </p:txBody>
      </p:sp>
      <p:sp>
        <p:nvSpPr>
          <p:cNvPr id="39" name="Text 35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(JSON Web Token) — Apa Itu?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48640" cy="54864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5" name="Image 0" descr="/home/claude/authppt/icons/key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1403" y="1991563"/>
            <a:ext cx="405994" cy="40599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9601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token paling umum dipakai di API modern — kartu identitas digital yang bisa diverifikasi tanpa server menyimpan data apa pun.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2880360"/>
            <a:ext cx="10881360" cy="914400"/>
          </a:xfrm>
          <a:prstGeom prst="roundRect">
            <a:avLst>
              <a:gd name="adj" fmla="val 10000"/>
            </a:avLst>
          </a:prstGeom>
          <a:solidFill>
            <a:srgbClr val="0B1F3A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88036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C2D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eyJhbGciOiJIUzI1NiJ9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FFB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eyJ1c2VyX2lkIjoxLCJuYW1hIjoiRGV3aSJ9</a:t>
            </a:r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</a:t>
            </a:r>
            <a:pPr algn="ctr" indent="0" marL="0">
              <a:buNone/>
            </a:pPr>
            <a:r>
              <a:rPr lang="en-US" sz="1400" dirty="0">
                <a:solidFill>
                  <a:srgbClr val="6FE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SflKxwRJSMeKKF2QT4fwpMeJf36POk6yJV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41148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0080" y="4114800"/>
            <a:ext cx="109728" cy="1463040"/>
          </a:xfrm>
          <a:prstGeom prst="rect">
            <a:avLst/>
          </a:prstGeom>
          <a:solidFill>
            <a:srgbClr val="00C2D1"/>
          </a:solidFill>
          <a:ln/>
        </p:spPr>
      </p:sp>
      <p:sp>
        <p:nvSpPr>
          <p:cNvPr id="11" name="Text 8"/>
          <p:cNvSpPr/>
          <p:nvPr/>
        </p:nvSpPr>
        <p:spPr>
          <a:xfrm>
            <a:off x="960120" y="431596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960120" y="4736592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 algoritma yang dipakai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325112" y="41148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325112" y="4114800"/>
            <a:ext cx="109728" cy="1463040"/>
          </a:xfrm>
          <a:prstGeom prst="rect">
            <a:avLst/>
          </a:prstGeom>
          <a:solidFill>
            <a:srgbClr val="FFB100"/>
          </a:solidFill>
          <a:ln/>
        </p:spPr>
      </p:sp>
      <p:sp>
        <p:nvSpPr>
          <p:cNvPr id="15" name="Text 12"/>
          <p:cNvSpPr/>
          <p:nvPr/>
        </p:nvSpPr>
        <p:spPr>
          <a:xfrm>
            <a:off x="4645152" y="431596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4645152" y="4736592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user (id, nama, masa berlaku)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8010144" y="4114800"/>
            <a:ext cx="3502152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010144" y="4114800"/>
            <a:ext cx="109728" cy="1463040"/>
          </a:xfrm>
          <a:prstGeom prst="rect">
            <a:avLst/>
          </a:prstGeom>
          <a:solidFill>
            <a:srgbClr val="6FE3A8"/>
          </a:solidFill>
          <a:ln/>
        </p:spPr>
      </p:sp>
      <p:sp>
        <p:nvSpPr>
          <p:cNvPr id="19" name="Text 16"/>
          <p:cNvSpPr/>
          <p:nvPr/>
        </p:nvSpPr>
        <p:spPr>
          <a:xfrm>
            <a:off x="8330184" y="4315968"/>
            <a:ext cx="3044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8330184" y="4736592"/>
            <a:ext cx="299923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Tanda tangan digital anti-palsu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Dipisah tanda titik ( . )  —  tiga bagian: Header . Payload . Signature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3 — LANJUTAN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JWT: Kenapa Signature Membuatnya Aman?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94560"/>
            <a:ext cx="502920" cy="502920"/>
          </a:xfrm>
          <a:prstGeom prst="ellipse">
            <a:avLst/>
          </a:prstGeom>
          <a:solidFill>
            <a:srgbClr val="6FE3A8"/>
          </a:solidFill>
          <a:ln/>
        </p:spPr>
      </p:sp>
      <p:pic>
        <p:nvPicPr>
          <p:cNvPr id="6" name="Image 0" descr="/home/claude/authppt/icons/stamp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2128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Asli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914400" y="2788920"/>
            <a:ext cx="4617720" cy="685800"/>
          </a:xfrm>
          <a:prstGeom prst="roundRect">
            <a:avLst>
              <a:gd name="adj" fmla="val 10667"/>
            </a:avLst>
          </a:prstGeom>
          <a:solidFill>
            <a:srgbClr val="EAF1FB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2788920"/>
            <a:ext cx="4297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"user_id": 1, "nama": "Dewi" }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ditandatangani dengan kunci rahasia server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14400" y="3977640"/>
            <a:ext cx="4617720" cy="548640"/>
          </a:xfrm>
          <a:prstGeom prst="roundRect">
            <a:avLst>
              <a:gd name="adj" fmla="val 13333"/>
            </a:avLst>
          </a:prstGeom>
          <a:solidFill>
            <a:srgbClr val="E4FAF0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9776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Signature valid — server menerima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914400" y="48006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Siapa pun bisa MEMBACA payload, tapi tidak seorang pun bisa MENGUBAHNYA tanpa ketahuan — karena tidak tahu kunci rahasia server.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1920240"/>
            <a:ext cx="539496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446520" y="2194560"/>
            <a:ext cx="502920" cy="502920"/>
          </a:xfrm>
          <a:prstGeom prst="ellipse">
            <a:avLst/>
          </a:prstGeom>
          <a:solidFill>
            <a:srgbClr val="F6B4AD"/>
          </a:solidFill>
          <a:ln/>
        </p:spPr>
      </p:sp>
      <p:pic>
        <p:nvPicPr>
          <p:cNvPr id="16" name="Image 1" descr="/home/claude/authppt/icons/lockopen_8A1F1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900" y="2259940"/>
            <a:ext cx="372161" cy="3721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132320" y="221284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Dipalsukan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6446520" y="2788920"/>
            <a:ext cx="4846320" cy="685800"/>
          </a:xfrm>
          <a:prstGeom prst="roundRect">
            <a:avLst>
              <a:gd name="adj" fmla="val 10667"/>
            </a:avLst>
          </a:prstGeom>
          <a:solidFill>
            <a:srgbClr val="FCEAE8"/>
          </a:solidFill>
          <a:ln/>
        </p:spPr>
      </p:sp>
      <p:sp>
        <p:nvSpPr>
          <p:cNvPr id="19" name="Text 15"/>
          <p:cNvSpPr/>
          <p:nvPr/>
        </p:nvSpPr>
        <p:spPr>
          <a:xfrm>
            <a:off x="6629400" y="2788920"/>
            <a:ext cx="4526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1F1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"user_id": 999, "role": "admin" }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6446520" y="361188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 diubah tanpa tahu kunci rahasia server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6446520" y="3977640"/>
            <a:ext cx="4846320" cy="548640"/>
          </a:xfrm>
          <a:prstGeom prst="roundRect">
            <a:avLst>
              <a:gd name="adj" fmla="val 13333"/>
            </a:avLst>
          </a:prstGeom>
          <a:solidFill>
            <a:srgbClr val="FCEAE8"/>
          </a:solidFill>
          <a:ln/>
        </p:spPr>
      </p:sp>
      <p:sp>
        <p:nvSpPr>
          <p:cNvPr id="22" name="Text 18"/>
          <p:cNvSpPr/>
          <p:nvPr/>
        </p:nvSpPr>
        <p:spPr>
          <a:xfrm>
            <a:off x="6629400" y="3977640"/>
            <a:ext cx="4526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27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Signature tidak cocok — 401 Unauthorized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6446520" y="4800600"/>
            <a:ext cx="4846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otomatis menolak token begitu tanda tangannya tidak cocok dengan isi payload yang sudah diubah.</a:t>
            </a:r>
            <a:endParaRPr lang="en-US" sz="1250" dirty="0"/>
          </a:p>
        </p:txBody>
      </p:sp>
      <p:sp>
        <p:nvSpPr>
          <p:cNvPr id="24" name="Text 2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3 — ALUR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Lengkap Penggunaan JWT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4930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19456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authppt/icons/usercheck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225994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30168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68680" y="283464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315468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email + password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06824" y="1965960"/>
            <a:ext cx="34930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535424" y="219456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2" name="Image 1" descr="/home/claude/authppt/icons/ke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804" y="2259940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296912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35424" y="283464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token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35424" y="315468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verifikasi &amp; buat JWT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7973568" y="1965960"/>
            <a:ext cx="34930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202168" y="219456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8" name="Image 2" descr="/home/claude/authppt/icons/exchange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7548" y="2259940"/>
            <a:ext cx="372161" cy="3721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963656" y="21305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202168" y="283464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ke client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202168" y="315468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"token": "eyJ..." }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640080" y="3977640"/>
            <a:ext cx="34930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868680" y="42062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4" name="Image 3" descr="/home/claude/authppt/icons/clipboard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4060" y="4271620"/>
            <a:ext cx="372161" cy="372161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30168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68680" y="484632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Simpan token</a:t>
            </a:r>
            <a:endParaRPr lang="en-US" sz="1400" dirty="0"/>
          </a:p>
        </p:txBody>
      </p:sp>
      <p:sp>
        <p:nvSpPr>
          <p:cNvPr id="27" name="Text 21"/>
          <p:cNvSpPr/>
          <p:nvPr/>
        </p:nvSpPr>
        <p:spPr>
          <a:xfrm>
            <a:off x="868680" y="516636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simpan sendiri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4306824" y="3977640"/>
            <a:ext cx="34930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4535424" y="420624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30" name="Image 4" descr="/home/claude/authppt/icons/shield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00804" y="4271620"/>
            <a:ext cx="372161" cy="372161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7296912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4535424" y="484632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di header</a:t>
            </a:r>
            <a:endParaRPr lang="en-US" sz="1400" dirty="0"/>
          </a:p>
        </p:txBody>
      </p:sp>
      <p:sp>
        <p:nvSpPr>
          <p:cNvPr id="33" name="Text 26"/>
          <p:cNvSpPr/>
          <p:nvPr/>
        </p:nvSpPr>
        <p:spPr>
          <a:xfrm>
            <a:off x="4535424" y="516636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...</a:t>
            </a:r>
            <a:endParaRPr lang="en-US" sz="1150" dirty="0"/>
          </a:p>
        </p:txBody>
      </p:sp>
      <p:sp>
        <p:nvSpPr>
          <p:cNvPr id="34" name="Shape 27"/>
          <p:cNvSpPr/>
          <p:nvPr/>
        </p:nvSpPr>
        <p:spPr>
          <a:xfrm>
            <a:off x="7973568" y="3977640"/>
            <a:ext cx="3493008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28"/>
          <p:cNvSpPr/>
          <p:nvPr/>
        </p:nvSpPr>
        <p:spPr>
          <a:xfrm>
            <a:off x="8202168" y="4206240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36" name="Image 5" descr="/home/claude/authppt/icons/lock_FFFFFF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67548" y="4271620"/>
            <a:ext cx="372161" cy="372161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10963656" y="414223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8" name="Text 30"/>
          <p:cNvSpPr/>
          <p:nvPr/>
        </p:nvSpPr>
        <p:spPr>
          <a:xfrm>
            <a:off x="8202168" y="4846320"/>
            <a:ext cx="303580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Verifikasi</a:t>
            </a:r>
            <a:endParaRPr lang="en-US" sz="1400" dirty="0"/>
          </a:p>
        </p:txBody>
      </p:sp>
      <p:sp>
        <p:nvSpPr>
          <p:cNvPr id="39" name="Text 31"/>
          <p:cNvSpPr/>
          <p:nvPr/>
        </p:nvSpPr>
        <p:spPr>
          <a:xfrm>
            <a:off x="8202168" y="5166360"/>
            <a:ext cx="303580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 → lanjut. Invalid → 401</a:t>
            </a:r>
            <a:endParaRPr lang="en-US" sz="1150" dirty="0"/>
          </a:p>
        </p:txBody>
      </p:sp>
      <p:sp>
        <p:nvSpPr>
          <p:cNvPr id="40" name="Text 32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 — Beda Fungsi dari JWT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12080" cy="4160520"/>
          </a:xfrm>
          <a:prstGeom prst="roundRect">
            <a:avLst>
              <a:gd name="adj" fmla="val 2637"/>
            </a:avLst>
          </a:prstGeom>
          <a:solidFill>
            <a:srgbClr val="0B1F3A"/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authppt/icons/route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Analogi: Valet Parking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6634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kasih kunci mobil ke petugas valet — tapi TIDAK kasih kunci rumah atau PIN alarm. Cuma akses terbatas, secukupnya.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914400" y="3840480"/>
            <a:ext cx="4663440" cy="0"/>
          </a:xfrm>
          <a:prstGeom prst="line">
            <a:avLst/>
          </a:prstGeom>
          <a:noFill/>
          <a:ln w="12700">
            <a:solidFill>
              <a:srgbClr val="24406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402336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 </a:t>
            </a:r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prosedur memberi akses TERBATAS ke pihak lain, tanpa membagikan password asli.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14400" y="4937760"/>
            <a:ext cx="4663440" cy="868680"/>
          </a:xfrm>
          <a:prstGeom prst="roundRect">
            <a:avLst>
              <a:gd name="adj" fmla="val 8421"/>
            </a:avLst>
          </a:prstGeom>
          <a:solidFill>
            <a:srgbClr val="122C54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4937760"/>
            <a:ext cx="4297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bentuk kartu identitasnya.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  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prosedur pinjam-akses ke layanan lain.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172200" y="1874520"/>
            <a:ext cx="539496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46520" y="210312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Kapan Pakai yang Mana?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446520" y="265176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/>
        </p:spPr>
      </p:sp>
      <p:sp>
        <p:nvSpPr>
          <p:cNvPr id="16" name="Shape 13"/>
          <p:cNvSpPr/>
          <p:nvPr/>
        </p:nvSpPr>
        <p:spPr>
          <a:xfrm>
            <a:off x="6629400" y="2816352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17" name="Image 1" descr="/home/claude/authppt/icons/key_FFFFFF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4780" y="2881732"/>
            <a:ext cx="372161" cy="372161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7269480" y="265176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 login sendiri (API kamu)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10378440" y="290779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00C2D1"/>
          </a:solidFill>
          <a:ln/>
        </p:spPr>
      </p:sp>
      <p:sp>
        <p:nvSpPr>
          <p:cNvPr id="20" name="Text 16"/>
          <p:cNvSpPr/>
          <p:nvPr/>
        </p:nvSpPr>
        <p:spPr>
          <a:xfrm>
            <a:off x="10378440" y="290779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6446520" y="370332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/>
        </p:spPr>
      </p:sp>
      <p:sp>
        <p:nvSpPr>
          <p:cNvPr id="22" name="Shape 18"/>
          <p:cNvSpPr/>
          <p:nvPr/>
        </p:nvSpPr>
        <p:spPr>
          <a:xfrm>
            <a:off x="6629400" y="3867912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3" name="Image 2" descr="/home/claude/authppt/icons/google_FFFF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4780" y="3933292"/>
            <a:ext cx="372161" cy="372161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7269480" y="37033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“Login pakai Google / GitHub”</a:t>
            </a:r>
            <a:endParaRPr lang="en-US" sz="1250" dirty="0"/>
          </a:p>
        </p:txBody>
      </p:sp>
      <p:sp>
        <p:nvSpPr>
          <p:cNvPr id="25" name="Shape 20"/>
          <p:cNvSpPr/>
          <p:nvPr/>
        </p:nvSpPr>
        <p:spPr>
          <a:xfrm>
            <a:off x="10378440" y="395935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26" name="Text 21"/>
          <p:cNvSpPr/>
          <p:nvPr/>
        </p:nvSpPr>
        <p:spPr>
          <a:xfrm>
            <a:off x="10378440" y="395935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6446520" y="4754880"/>
            <a:ext cx="4846320" cy="868680"/>
          </a:xfrm>
          <a:prstGeom prst="roundRect">
            <a:avLst>
              <a:gd name="adj" fmla="val 8421"/>
            </a:avLst>
          </a:prstGeom>
          <a:solidFill>
            <a:srgbClr val="EAF1FB"/>
          </a:solidFill>
          <a:ln/>
        </p:spPr>
      </p:sp>
      <p:sp>
        <p:nvSpPr>
          <p:cNvPr id="28" name="Shape 23"/>
          <p:cNvSpPr/>
          <p:nvPr/>
        </p:nvSpPr>
        <p:spPr>
          <a:xfrm>
            <a:off x="6629400" y="4919472"/>
            <a:ext cx="502920" cy="502920"/>
          </a:xfrm>
          <a:prstGeom prst="ellipse">
            <a:avLst/>
          </a:prstGeom>
          <a:solidFill>
            <a:srgbClr val="0B1F3A"/>
          </a:solidFill>
          <a:ln/>
        </p:spPr>
      </p:sp>
      <p:pic>
        <p:nvPicPr>
          <p:cNvPr id="29" name="Image 3" descr="/home/claude/authppt/icons/server_FFFFFF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4780" y="4984852"/>
            <a:ext cx="372161" cy="372161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7269480" y="475488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data dari layanan lain</a:t>
            </a:r>
            <a:endParaRPr lang="en-US" sz="1250" dirty="0"/>
          </a:p>
        </p:txBody>
      </p:sp>
      <p:sp>
        <p:nvSpPr>
          <p:cNvPr id="31" name="Shape 25"/>
          <p:cNvSpPr/>
          <p:nvPr/>
        </p:nvSpPr>
        <p:spPr>
          <a:xfrm>
            <a:off x="10378440" y="5010912"/>
            <a:ext cx="777240" cy="365760"/>
          </a:xfrm>
          <a:prstGeom prst="roundRect">
            <a:avLst>
              <a:gd name="adj" fmla="val 50000"/>
            </a:avLst>
          </a:prstGeom>
          <a:solidFill>
            <a:srgbClr val="FFB100"/>
          </a:solidFill>
          <a:ln/>
        </p:spPr>
      </p:sp>
      <p:sp>
        <p:nvSpPr>
          <p:cNvPr id="32" name="Text 26"/>
          <p:cNvSpPr/>
          <p:nvPr/>
        </p:nvSpPr>
        <p:spPr>
          <a:xfrm>
            <a:off x="10378440" y="5010912"/>
            <a:ext cx="777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100" dirty="0"/>
          </a:p>
        </p:txBody>
      </p:sp>
      <p:sp>
        <p:nvSpPr>
          <p:cNvPr id="33" name="Text 27"/>
          <p:cNvSpPr/>
          <p:nvPr/>
        </p:nvSpPr>
        <p:spPr>
          <a:xfrm>
            <a:off x="6446520" y="585216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proyek login/register API kamu sendiri: cukup JWT — OAuth2 belum diperlukan.</a:t>
            </a:r>
            <a:endParaRPr lang="en-US" sz="1150" dirty="0"/>
          </a:p>
        </p:txBody>
      </p:sp>
      <p:sp>
        <p:nvSpPr>
          <p:cNvPr id="34" name="Text 2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4 — CONTOH NYATA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OAuth2: Alur "Login dengan Google"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1709928" cy="28346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9012" y="2331720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2331720"/>
            <a:ext cx="1709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152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 “Login with Google”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731520" y="3886200"/>
            <a:ext cx="1527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 Aplikasi 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50008" y="3291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459736" y="2103120"/>
            <a:ext cx="1709928" cy="28346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58668" y="2331720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12" name="Text 10"/>
          <p:cNvSpPr/>
          <p:nvPr/>
        </p:nvSpPr>
        <p:spPr>
          <a:xfrm>
            <a:off x="2459736" y="2331720"/>
            <a:ext cx="1709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551176" y="3017520"/>
            <a:ext cx="152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Diarahkan ke Google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551176" y="3886200"/>
            <a:ext cx="1527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Bukan halaman Aplikasi X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69664" y="3291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79392" y="2103120"/>
            <a:ext cx="1709928" cy="28346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78324" y="2331720"/>
            <a:ext cx="512064" cy="512064"/>
          </a:xfrm>
          <a:prstGeom prst="ellipse">
            <a:avLst/>
          </a:prstGeom>
          <a:solidFill>
            <a:srgbClr val="FFB100"/>
          </a:solidFill>
          <a:ln/>
        </p:spPr>
      </p:sp>
      <p:sp>
        <p:nvSpPr>
          <p:cNvPr id="18" name="Text 16"/>
          <p:cNvSpPr/>
          <p:nvPr/>
        </p:nvSpPr>
        <p:spPr>
          <a:xfrm>
            <a:off x="4279392" y="2331720"/>
            <a:ext cx="1709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70832" y="3017520"/>
            <a:ext cx="152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di situs Google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370832" y="3886200"/>
            <a:ext cx="1527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TIDAK pernah dilihat Aplikasi X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989320" y="3291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099048" y="2103120"/>
            <a:ext cx="1709928" cy="28346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97980" y="2331720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24" name="Text 22"/>
          <p:cNvSpPr/>
          <p:nvPr/>
        </p:nvSpPr>
        <p:spPr>
          <a:xfrm>
            <a:off x="6099048" y="2331720"/>
            <a:ext cx="1709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190488" y="3017520"/>
            <a:ext cx="152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minta izin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190488" y="3886200"/>
            <a:ext cx="1527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“Boleh akses nama &amp; email?”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808976" y="3291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7918704" y="2103120"/>
            <a:ext cx="1709928" cy="28346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517636" y="2331720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0" name="Text 28"/>
          <p:cNvSpPr/>
          <p:nvPr/>
        </p:nvSpPr>
        <p:spPr>
          <a:xfrm>
            <a:off x="7918704" y="2331720"/>
            <a:ext cx="1709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8010144" y="3017520"/>
            <a:ext cx="152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klik Izinkan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8010144" y="3886200"/>
            <a:ext cx="1527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Kamu yang mengontrol izinnya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9628632" y="3291840"/>
            <a:ext cx="109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5C6B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738360" y="2103120"/>
            <a:ext cx="1709928" cy="2834640"/>
          </a:xfrm>
          <a:prstGeom prst="roundRect">
            <a:avLst>
              <a:gd name="adj" fmla="val 5348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337292" y="2331720"/>
            <a:ext cx="512064" cy="512064"/>
          </a:xfrm>
          <a:prstGeom prst="ellipse">
            <a:avLst/>
          </a:prstGeom>
          <a:solidFill>
            <a:srgbClr val="00C2D1"/>
          </a:solidFill>
          <a:ln/>
        </p:spPr>
      </p:sp>
      <p:sp>
        <p:nvSpPr>
          <p:cNvPr id="36" name="Text 34"/>
          <p:cNvSpPr/>
          <p:nvPr/>
        </p:nvSpPr>
        <p:spPr>
          <a:xfrm>
            <a:off x="9738360" y="2331720"/>
            <a:ext cx="1709928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829800" y="3017520"/>
            <a:ext cx="152704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X terima token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9829800" y="3886200"/>
            <a:ext cx="152704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Berisi hanya data yang diizinkan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40080" y="5257800"/>
            <a:ext cx="10881360" cy="777240"/>
          </a:xfrm>
          <a:prstGeom prst="roundRect">
            <a:avLst>
              <a:gd name="adj" fmla="val 11765"/>
            </a:avLst>
          </a:prstGeom>
          <a:solidFill>
            <a:srgbClr val="0B1F3A"/>
          </a:solidFill>
          <a:ln/>
        </p:spPr>
      </p:sp>
      <p:sp>
        <p:nvSpPr>
          <p:cNvPr id="40" name="Shape 38"/>
          <p:cNvSpPr/>
          <p:nvPr/>
        </p:nvSpPr>
        <p:spPr>
          <a:xfrm>
            <a:off x="868680" y="539496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41" name="Image 0" descr="/home/claude/authppt/icons/lock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060" y="5460340"/>
            <a:ext cx="372161" cy="372161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1554480" y="5257800"/>
            <a:ext cx="97840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 penting: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Aplikasi X tidak pernah tahu password Google kamu — hanya menerima izin akses terbatas.</a:t>
            </a:r>
            <a:endParaRPr lang="en-US" sz="1300" dirty="0"/>
          </a:p>
        </p:txBody>
      </p:sp>
      <p:sp>
        <p:nvSpPr>
          <p:cNvPr id="43" name="Text 40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— "Satpam" Sebelum Controller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120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148840"/>
            <a:ext cx="502920" cy="50292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authppt/icons/usershield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9780" y="2214220"/>
            <a:ext cx="372161" cy="3721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216712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Analogi Satpam Gedung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697480"/>
            <a:ext cx="4572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 adalah kode yang berjalan LEBIH DULU, sebelum request sampai ke Controller — seperti satpam yang mengecek kartu akses sebelum kamu masuk ruangan.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3931920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Satpam tidak peduli apa yang kamu lakukan di dalam — tugasnya cuma satu: memutuskan boleh masuk atau tidak.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914400" y="4846320"/>
            <a:ext cx="4572000" cy="0"/>
          </a:xfrm>
          <a:prstGeom prst="line">
            <a:avLst/>
          </a:prstGeom>
          <a:noFill/>
          <a:ln w="12700">
            <a:solidFill>
              <a:srgbClr val="E3E9F2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14400" y="498348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Kenapa dipisah dari Controller?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91440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Supaya “cek token” cukup ditulis SEKALI, lalu dipasang ke endpoint mana saja yang butuh dijaga — tidak diulang di setiap function.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080760" y="1874520"/>
            <a:ext cx="5486400" cy="4160520"/>
          </a:xfrm>
          <a:prstGeom prst="roundRect">
            <a:avLst>
              <a:gd name="adj" fmla="val 2637"/>
            </a:avLst>
          </a:prstGeom>
          <a:solidFill>
            <a:srgbClr val="0B1F3A"/>
          </a:solidFill>
          <a:ln/>
        </p:spPr>
      </p:sp>
      <p:sp>
        <p:nvSpPr>
          <p:cNvPr id="14" name="Text 11"/>
          <p:cNvSpPr/>
          <p:nvPr/>
        </p:nvSpPr>
        <p:spPr>
          <a:xfrm>
            <a:off x="6355080" y="21031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Request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6355080" y="2651760"/>
            <a:ext cx="4937760" cy="594360"/>
          </a:xfrm>
          <a:prstGeom prst="roundRect">
            <a:avLst>
              <a:gd name="adj" fmla="val 12308"/>
            </a:avLst>
          </a:prstGeom>
          <a:solidFill>
            <a:srgbClr val="122C54"/>
          </a:solidFill>
          <a:ln/>
        </p:spPr>
      </p:sp>
      <p:sp>
        <p:nvSpPr>
          <p:cNvPr id="16" name="Text 13"/>
          <p:cNvSpPr/>
          <p:nvPr/>
        </p:nvSpPr>
        <p:spPr>
          <a:xfrm>
            <a:off x="6355080" y="26517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Masuk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355080" y="32461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C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355080" y="3520440"/>
            <a:ext cx="4937760" cy="685800"/>
          </a:xfrm>
          <a:prstGeom prst="roundRect">
            <a:avLst>
              <a:gd name="adj" fmla="val 10667"/>
            </a:avLst>
          </a:prstGeom>
          <a:solidFill>
            <a:srgbClr val="00C2D1"/>
          </a:solidFill>
          <a:ln/>
        </p:spPr>
      </p:sp>
      <p:sp>
        <p:nvSpPr>
          <p:cNvPr id="19" name="Shape 16"/>
          <p:cNvSpPr/>
          <p:nvPr/>
        </p:nvSpPr>
        <p:spPr>
          <a:xfrm>
            <a:off x="6537960" y="363931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1" descr="/home/claude/authppt/icons/usershield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7396" y="3698748"/>
            <a:ext cx="338328" cy="338328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7178040" y="3520440"/>
            <a:ext cx="3931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Middleware: cek token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355080" y="425196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valid                    ↓ tidak valid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6355080" y="45720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1C7A4E"/>
          </a:solidFill>
          <a:ln/>
        </p:spPr>
      </p:sp>
      <p:sp>
        <p:nvSpPr>
          <p:cNvPr id="24" name="Text 20"/>
          <p:cNvSpPr/>
          <p:nvPr/>
        </p:nvSpPr>
        <p:spPr>
          <a:xfrm>
            <a:off x="6355080" y="4572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diproses</a:t>
            </a:r>
            <a:endParaRPr lang="en-US" sz="1150" dirty="0"/>
          </a:p>
        </p:txBody>
      </p:sp>
      <p:sp>
        <p:nvSpPr>
          <p:cNvPr id="25" name="Shape 21"/>
          <p:cNvSpPr/>
          <p:nvPr/>
        </p:nvSpPr>
        <p:spPr>
          <a:xfrm>
            <a:off x="8961120" y="4572000"/>
            <a:ext cx="2331720" cy="640080"/>
          </a:xfrm>
          <a:prstGeom prst="roundRect">
            <a:avLst>
              <a:gd name="adj" fmla="val 11429"/>
            </a:avLst>
          </a:prstGeom>
          <a:solidFill>
            <a:srgbClr val="8A1F17"/>
          </a:solidFill>
          <a:ln/>
        </p:spPr>
      </p:sp>
      <p:sp>
        <p:nvSpPr>
          <p:cNvPr id="26" name="Text 22"/>
          <p:cNvSpPr/>
          <p:nvPr/>
        </p:nvSpPr>
        <p:spPr>
          <a:xfrm>
            <a:off x="8961120" y="457200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150" dirty="0"/>
          </a:p>
        </p:txBody>
      </p:sp>
      <p:sp>
        <p:nvSpPr>
          <p:cNvPr id="27" name="Text 23"/>
          <p:cNvSpPr/>
          <p:nvPr/>
        </p:nvSpPr>
        <p:spPr>
          <a:xfrm>
            <a:off x="6355080" y="544068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Ditolak di “pintu” — tidak pernah sampai ke Controller.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8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KONSEP 5 — PENERAPAN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Middleware di API Buku Kamu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Aturan: "Semua orang boleh melihat buku, tapi hanya yang login boleh tambah / edit / hapus."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478024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C7A4E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802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920240" y="23774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/api/buku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074920" y="23774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semua buku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595360" y="2450592"/>
            <a:ext cx="420624" cy="420624"/>
          </a:xfrm>
          <a:prstGeom prst="ellipse">
            <a:avLst/>
          </a:prstGeom>
          <a:solidFill>
            <a:srgbClr val="D9EFE3"/>
          </a:solidFill>
          <a:ln/>
        </p:spPr>
      </p:sp>
      <p:pic>
        <p:nvPicPr>
          <p:cNvPr id="11" name="Image 0" descr="/home/claude/authppt/icons/lockopen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50041" y="2505273"/>
            <a:ext cx="311262" cy="311262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9144000" y="23774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akses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40080" y="30632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68680" y="3163824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1C7A4E"/>
          </a:solidFill>
          <a:ln/>
        </p:spPr>
      </p:sp>
      <p:sp>
        <p:nvSpPr>
          <p:cNvPr id="15" name="Text 12"/>
          <p:cNvSpPr/>
          <p:nvPr/>
        </p:nvSpPr>
        <p:spPr>
          <a:xfrm>
            <a:off x="868680" y="316382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920240" y="30632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/api/buku/{id}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5074920" y="30632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Lihat 1 buku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595360" y="3136392"/>
            <a:ext cx="420624" cy="420624"/>
          </a:xfrm>
          <a:prstGeom prst="ellipse">
            <a:avLst/>
          </a:prstGeom>
          <a:solidFill>
            <a:srgbClr val="D9EFE3"/>
          </a:solidFill>
          <a:ln/>
        </p:spPr>
      </p:sp>
      <p:pic>
        <p:nvPicPr>
          <p:cNvPr id="19" name="Image 1" descr="/home/claude/authppt/icons/lockopen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0041" y="3191073"/>
            <a:ext cx="311262" cy="31126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144000" y="30632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A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Bebas akses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640080" y="37490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868680" y="3849624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0E5FA8"/>
          </a:solidFill>
          <a:ln/>
        </p:spPr>
      </p:sp>
      <p:sp>
        <p:nvSpPr>
          <p:cNvPr id="23" name="Text 19"/>
          <p:cNvSpPr/>
          <p:nvPr/>
        </p:nvSpPr>
        <p:spPr>
          <a:xfrm>
            <a:off x="868680" y="384962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1920240" y="37490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/api/buku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5074920" y="37490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Tambah buku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8595360" y="3822192"/>
            <a:ext cx="420624" cy="420624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27" name="Image 2" descr="/home/claude/authppt/icons/lock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50041" y="3876873"/>
            <a:ext cx="311262" cy="311262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9144000" y="37490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token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640080" y="44348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868680" y="4535424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A8720E"/>
          </a:solidFill>
          <a:ln/>
        </p:spPr>
      </p:sp>
      <p:sp>
        <p:nvSpPr>
          <p:cNvPr id="31" name="Text 26"/>
          <p:cNvSpPr/>
          <p:nvPr/>
        </p:nvSpPr>
        <p:spPr>
          <a:xfrm>
            <a:off x="868680" y="453542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</a:t>
            </a:r>
            <a:endParaRPr lang="en-US" sz="1100" dirty="0"/>
          </a:p>
        </p:txBody>
      </p:sp>
      <p:sp>
        <p:nvSpPr>
          <p:cNvPr id="32" name="Text 27"/>
          <p:cNvSpPr/>
          <p:nvPr/>
        </p:nvSpPr>
        <p:spPr>
          <a:xfrm>
            <a:off x="1920240" y="44348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/api/buku/{id}</a:t>
            </a:r>
            <a:endParaRPr lang="en-US" sz="1250" dirty="0"/>
          </a:p>
        </p:txBody>
      </p:sp>
      <p:sp>
        <p:nvSpPr>
          <p:cNvPr id="33" name="Text 28"/>
          <p:cNvSpPr/>
          <p:nvPr/>
        </p:nvSpPr>
        <p:spPr>
          <a:xfrm>
            <a:off x="5074920" y="44348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buku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8595360" y="4507992"/>
            <a:ext cx="420624" cy="420624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35" name="Image 3" descr="/home/claude/authppt/icons/lock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50041" y="4562673"/>
            <a:ext cx="311262" cy="311262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9144000" y="44348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token</a:t>
            </a:r>
            <a:endParaRPr lang="en-US" sz="1200" dirty="0"/>
          </a:p>
        </p:txBody>
      </p:sp>
      <p:sp>
        <p:nvSpPr>
          <p:cNvPr id="37" name="Shape 31"/>
          <p:cNvSpPr/>
          <p:nvPr/>
        </p:nvSpPr>
        <p:spPr>
          <a:xfrm>
            <a:off x="640080" y="5120640"/>
            <a:ext cx="10881360" cy="566928"/>
          </a:xfrm>
          <a:prstGeom prst="round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868680" y="5221224"/>
            <a:ext cx="868680" cy="365760"/>
          </a:xfrm>
          <a:prstGeom prst="roundRect">
            <a:avLst>
              <a:gd name="adj" fmla="val 15000"/>
            </a:avLst>
          </a:prstGeom>
          <a:solidFill>
            <a:srgbClr val="B0271A"/>
          </a:solidFill>
          <a:ln/>
        </p:spPr>
      </p:sp>
      <p:sp>
        <p:nvSpPr>
          <p:cNvPr id="39" name="Text 33"/>
          <p:cNvSpPr/>
          <p:nvPr/>
        </p:nvSpPr>
        <p:spPr>
          <a:xfrm>
            <a:off x="868680" y="5221224"/>
            <a:ext cx="868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</a:t>
            </a:r>
            <a:endParaRPr lang="en-US" sz="1100" dirty="0"/>
          </a:p>
        </p:txBody>
      </p:sp>
      <p:sp>
        <p:nvSpPr>
          <p:cNvPr id="40" name="Text 34"/>
          <p:cNvSpPr/>
          <p:nvPr/>
        </p:nvSpPr>
        <p:spPr>
          <a:xfrm>
            <a:off x="1920240" y="5120640"/>
            <a:ext cx="30175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B1F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/api/buku/{id}</a:t>
            </a:r>
            <a:endParaRPr lang="en-US" sz="1250" dirty="0"/>
          </a:p>
        </p:txBody>
      </p:sp>
      <p:sp>
        <p:nvSpPr>
          <p:cNvPr id="41" name="Text 35"/>
          <p:cNvSpPr/>
          <p:nvPr/>
        </p:nvSpPr>
        <p:spPr>
          <a:xfrm>
            <a:off x="5074920" y="512064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62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Hapus buku</a:t>
            </a:r>
            <a:endParaRPr lang="en-US" sz="1250" dirty="0"/>
          </a:p>
        </p:txBody>
      </p:sp>
      <p:sp>
        <p:nvSpPr>
          <p:cNvPr id="42" name="Shape 36"/>
          <p:cNvSpPr/>
          <p:nvPr/>
        </p:nvSpPr>
        <p:spPr>
          <a:xfrm>
            <a:off x="8595360" y="5193792"/>
            <a:ext cx="420624" cy="420624"/>
          </a:xfrm>
          <a:prstGeom prst="ellipse">
            <a:avLst/>
          </a:prstGeom>
          <a:solidFill>
            <a:srgbClr val="FFB100"/>
          </a:solidFill>
          <a:ln/>
        </p:spPr>
      </p:sp>
      <p:pic>
        <p:nvPicPr>
          <p:cNvPr id="43" name="Image 4" descr="/home/claude/authppt/icons/lock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0041" y="5248473"/>
            <a:ext cx="311262" cy="311262"/>
          </a:xfrm>
          <a:prstGeom prst="rect">
            <a:avLst/>
          </a:prstGeom>
        </p:spPr>
      </p:pic>
      <p:sp>
        <p:nvSpPr>
          <p:cNvPr id="44" name="Text 37"/>
          <p:cNvSpPr/>
          <p:nvPr/>
        </p:nvSpPr>
        <p:spPr>
          <a:xfrm>
            <a:off x="9144000" y="5120640"/>
            <a:ext cx="21945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A872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Perlu token</a:t>
            </a:r>
            <a:endParaRPr lang="en-US" sz="1200" dirty="0"/>
          </a:p>
        </p:txBody>
      </p:sp>
      <p:sp>
        <p:nvSpPr>
          <p:cNvPr id="45" name="Text 38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MERANGKAI SEMUA KONSEP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Lengkap: Register → Login → Akses Data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122C54"/>
          </a:solidFill>
          <a:ln/>
        </p:spPr>
      </p:sp>
      <p:sp>
        <p:nvSpPr>
          <p:cNvPr id="5" name="Shape 3"/>
          <p:cNvSpPr/>
          <p:nvPr/>
        </p:nvSpPr>
        <p:spPr>
          <a:xfrm>
            <a:off x="1399032" y="2423160"/>
            <a:ext cx="530352" cy="530352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6" name="Image 0" descr="/home/claude/authppt/icons/idcard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67978" y="2492106"/>
            <a:ext cx="392460" cy="3924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31089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04672" y="3520440"/>
            <a:ext cx="17190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nama, email, password. Server hash password, simpan ke DB.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688336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2807208" y="214884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122C54"/>
          </a:solidFill>
          <a:ln/>
        </p:spPr>
      </p:sp>
      <p:sp>
        <p:nvSpPr>
          <p:cNvPr id="12" name="Shape 9"/>
          <p:cNvSpPr/>
          <p:nvPr/>
        </p:nvSpPr>
        <p:spPr>
          <a:xfrm>
            <a:off x="3566160" y="2423160"/>
            <a:ext cx="530352" cy="530352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3" name="Image 1" descr="/home/claude/authppt/icons/usercheck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106" y="2492106"/>
            <a:ext cx="392460" cy="3924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916936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944368" y="31089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2971800" y="3520440"/>
            <a:ext cx="17190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email + password. Server cek, lalu generate JWT.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4855464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4974336" y="214884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122C54"/>
          </a:solidFill>
          <a:ln/>
        </p:spPr>
      </p:sp>
      <p:sp>
        <p:nvSpPr>
          <p:cNvPr id="19" name="Shape 15"/>
          <p:cNvSpPr/>
          <p:nvPr/>
        </p:nvSpPr>
        <p:spPr>
          <a:xfrm>
            <a:off x="5733288" y="2423160"/>
            <a:ext cx="530352" cy="530352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0" name="Image 2" descr="/home/claude/authppt/icons/key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2234" y="2492106"/>
            <a:ext cx="392460" cy="3924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84064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5111496" y="31089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Terima Token</a:t>
            </a:r>
            <a:endParaRPr lang="en-US" sz="1350" dirty="0"/>
          </a:p>
        </p:txBody>
      </p:sp>
      <p:sp>
        <p:nvSpPr>
          <p:cNvPr id="23" name="Text 18"/>
          <p:cNvSpPr/>
          <p:nvPr/>
        </p:nvSpPr>
        <p:spPr>
          <a:xfrm>
            <a:off x="5138928" y="3520440"/>
            <a:ext cx="17190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simpan token untuk dipakai di request berikutnya.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7022592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7141464" y="214884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122C54"/>
          </a:solidFill>
          <a:ln/>
        </p:spPr>
      </p:sp>
      <p:sp>
        <p:nvSpPr>
          <p:cNvPr id="26" name="Shape 21"/>
          <p:cNvSpPr/>
          <p:nvPr/>
        </p:nvSpPr>
        <p:spPr>
          <a:xfrm>
            <a:off x="7900416" y="2423160"/>
            <a:ext cx="530352" cy="530352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7" name="Image 3" descr="/home/claude/authppt/icons/usershield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9362" y="2492106"/>
            <a:ext cx="392460" cy="39246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251192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9" name="Text 23"/>
          <p:cNvSpPr/>
          <p:nvPr/>
        </p:nvSpPr>
        <p:spPr>
          <a:xfrm>
            <a:off x="7278624" y="31089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Terproteksi</a:t>
            </a:r>
            <a:endParaRPr lang="en-US" sz="1350" dirty="0"/>
          </a:p>
        </p:txBody>
      </p:sp>
      <p:sp>
        <p:nvSpPr>
          <p:cNvPr id="30" name="Text 24"/>
          <p:cNvSpPr/>
          <p:nvPr/>
        </p:nvSpPr>
        <p:spPr>
          <a:xfrm>
            <a:off x="7306056" y="3520440"/>
            <a:ext cx="17190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Kirim token di header Authorization. Middleware verifikasi.</a:t>
            </a:r>
            <a:endParaRPr lang="en-US" sz="1050" dirty="0"/>
          </a:p>
        </p:txBody>
      </p:sp>
      <p:sp>
        <p:nvSpPr>
          <p:cNvPr id="31" name="Text 25"/>
          <p:cNvSpPr/>
          <p:nvPr/>
        </p:nvSpPr>
        <p:spPr>
          <a:xfrm>
            <a:off x="9189720" y="3337560"/>
            <a:ext cx="1188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C2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›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9308592" y="2148840"/>
            <a:ext cx="2048256" cy="3017520"/>
          </a:xfrm>
          <a:prstGeom prst="roundRect">
            <a:avLst>
              <a:gd name="adj" fmla="val 4464"/>
            </a:avLst>
          </a:prstGeom>
          <a:solidFill>
            <a:srgbClr val="122C54"/>
          </a:solidFill>
          <a:ln/>
        </p:spPr>
      </p:sp>
      <p:sp>
        <p:nvSpPr>
          <p:cNvPr id="33" name="Shape 27"/>
          <p:cNvSpPr/>
          <p:nvPr/>
        </p:nvSpPr>
        <p:spPr>
          <a:xfrm>
            <a:off x="10067544" y="2423160"/>
            <a:ext cx="530352" cy="530352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34" name="Image 4" descr="/home/claude/authppt/icons/shield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36490" y="2492106"/>
            <a:ext cx="392460" cy="39246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9418320" y="2286000"/>
            <a:ext cx="365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9445752" y="3108960"/>
            <a:ext cx="177393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Akses Diberikan</a:t>
            </a:r>
            <a:endParaRPr lang="en-US" sz="1350" dirty="0"/>
          </a:p>
        </p:txBody>
      </p:sp>
      <p:sp>
        <p:nvSpPr>
          <p:cNvPr id="37" name="Text 30"/>
          <p:cNvSpPr/>
          <p:nvPr/>
        </p:nvSpPr>
        <p:spPr>
          <a:xfrm>
            <a:off x="9473184" y="3520440"/>
            <a:ext cx="171907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valid → Controller proses. Tidak valid → 401.</a:t>
            </a:r>
            <a:endParaRPr lang="en-US" sz="1050" dirty="0"/>
          </a:p>
        </p:txBody>
      </p:sp>
      <p:sp>
        <p:nvSpPr>
          <p:cNvPr id="38" name="Text 31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114800" cy="4114800"/>
          </a:xfrm>
          <a:prstGeom prst="ellipse">
            <a:avLst/>
          </a:prstGeom>
          <a:solidFill>
            <a:srgbClr val="122C5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C2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Enam Konsep, Satu Sistem Keamanan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22C54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19456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7" name="Image 0" descr="/home/claude/authppt/icons/usercheck_0B1F3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" y="2253996"/>
            <a:ext cx="338328" cy="338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21488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Autentikasi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68680" y="27432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Memastikan “kamu ini siapa”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325112" y="19659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22C54"/>
          </a:solidFill>
          <a:ln/>
        </p:spPr>
      </p:sp>
      <p:sp>
        <p:nvSpPr>
          <p:cNvPr id="11" name="Shape 8"/>
          <p:cNvSpPr/>
          <p:nvPr/>
        </p:nvSpPr>
        <p:spPr>
          <a:xfrm>
            <a:off x="4553712" y="219456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2" name="Image 1" descr="/home/claude/authppt/icons/book_0B1F3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3148" y="2253996"/>
            <a:ext cx="338328" cy="33832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148072" y="21488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4553712" y="27432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menyimpan catatan login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8010144" y="19659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22C54"/>
          </a:solidFill>
          <a:ln/>
        </p:spPr>
      </p:sp>
      <p:sp>
        <p:nvSpPr>
          <p:cNvPr id="16" name="Shape 12"/>
          <p:cNvSpPr/>
          <p:nvPr/>
        </p:nvSpPr>
        <p:spPr>
          <a:xfrm>
            <a:off x="8238744" y="219456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17" name="Image 2" descr="/home/claude/authppt/icons/ticket_0B1F3A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8180" y="2253996"/>
            <a:ext cx="338328" cy="33832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833104" y="21488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Token-based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8238744" y="27432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cukup verifikasi, stateless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40080" y="35661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22C54"/>
          </a:solidFill>
          <a:ln/>
        </p:spPr>
      </p:sp>
      <p:sp>
        <p:nvSpPr>
          <p:cNvPr id="21" name="Shape 16"/>
          <p:cNvSpPr/>
          <p:nvPr/>
        </p:nvSpPr>
        <p:spPr>
          <a:xfrm>
            <a:off x="868680" y="379476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2" name="Image 3" descr="/home/claude/authppt/icons/key_0B1F3A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116" y="3854196"/>
            <a:ext cx="338328" cy="33832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463040" y="3749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868680" y="43434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+ tanda tangan digital anti-palsu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4325112" y="35661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22C54"/>
          </a:solidFill>
          <a:ln/>
        </p:spPr>
      </p:sp>
      <p:sp>
        <p:nvSpPr>
          <p:cNvPr id="26" name="Shape 20"/>
          <p:cNvSpPr/>
          <p:nvPr/>
        </p:nvSpPr>
        <p:spPr>
          <a:xfrm>
            <a:off x="4553712" y="379476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27" name="Image 4" descr="/home/claude/authppt/icons/google_0B1F3A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13148" y="3854196"/>
            <a:ext cx="338328" cy="33832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48072" y="3749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OAuth2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4553712" y="43434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 akses ke pihak lain tanpa password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8010144" y="3566160"/>
            <a:ext cx="3502152" cy="1417320"/>
          </a:xfrm>
          <a:prstGeom prst="roundRect">
            <a:avLst>
              <a:gd name="adj" fmla="val 6452"/>
            </a:avLst>
          </a:prstGeom>
          <a:solidFill>
            <a:srgbClr val="122C54"/>
          </a:solidFill>
          <a:ln/>
        </p:spPr>
      </p:sp>
      <p:sp>
        <p:nvSpPr>
          <p:cNvPr id="31" name="Shape 24"/>
          <p:cNvSpPr/>
          <p:nvPr/>
        </p:nvSpPr>
        <p:spPr>
          <a:xfrm>
            <a:off x="8238744" y="3794760"/>
            <a:ext cx="457200" cy="457200"/>
          </a:xfrm>
          <a:prstGeom prst="ellipse">
            <a:avLst/>
          </a:prstGeom>
          <a:solidFill>
            <a:srgbClr val="00C2D1"/>
          </a:solidFill>
          <a:ln/>
        </p:spPr>
      </p:sp>
      <p:pic>
        <p:nvPicPr>
          <p:cNvPr id="32" name="Image 5" descr="/home/claude/authppt/icons/usershield_0B1F3A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98180" y="3854196"/>
            <a:ext cx="338328" cy="338328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833104" y="3749040"/>
            <a:ext cx="24963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Middleware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8238744" y="4343400"/>
            <a:ext cx="3044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“Satpam” penjaga endpoint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40080" y="5623560"/>
            <a:ext cx="10881360" cy="731520"/>
          </a:xfrm>
          <a:prstGeom prst="roundRect">
            <a:avLst>
              <a:gd name="adj" fmla="val 12500"/>
            </a:avLst>
          </a:prstGeom>
          <a:solidFill>
            <a:srgbClr val="00C2D1"/>
          </a:solidFill>
          <a:ln/>
        </p:spPr>
      </p:sp>
      <p:sp>
        <p:nvSpPr>
          <p:cNvPr id="36" name="Text 28"/>
          <p:cNvSpPr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Selanjutnya:  </a:t>
            </a:r>
            <a:pPr indent="0" marL="0">
              <a:buNone/>
            </a:pPr>
            <a:r>
              <a:rPr lang="en-US" sz="135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praktik bikin endpoint Register &amp; Login di Laravel, pakai Sanctum untuk token-based auth.</a:t>
            </a:r>
            <a:endParaRPr lang="en-US" sz="1350" dirty="0"/>
          </a:p>
        </p:txBody>
      </p:sp>
      <p:sp>
        <p:nvSpPr>
          <p:cNvPr id="37" name="Text 29"/>
          <p:cNvSpPr/>
          <p:nvPr/>
        </p:nvSpPr>
        <p:spPr>
          <a:xfrm>
            <a:off x="11365992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2026-09-18T08:11:00Z</dcterms:created>
  <dcterms:modified xsi:type="dcterms:W3CDTF">2026-09-18T08:11:00Z</dcterms:modified>
</cp:coreProperties>
</file>